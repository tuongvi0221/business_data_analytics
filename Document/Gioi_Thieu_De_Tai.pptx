
<file path=[Content_Types].xml><?xml version="1.0" encoding="utf-8"?>
<Types xmlns="http://schemas.openxmlformats.org/package/2006/content-types">
  <Default ContentType="application/x-fontdata" Extension="fntdata"/>
  <Default ContentType="image/gif" Extension="gif"/>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Lst>
  <p:sldSz cx="18288000" cy="10287000"/>
  <p:notesSz cx="6858000" cy="9144000"/>
  <p:embeddedFontLst>
    <p:embeddedFont>
      <p:font typeface="Canva Sans Bold" charset="1" panose="020B0803030501040103"/>
      <p:regular r:id="rId17"/>
    </p:embeddedFont>
    <p:embeddedFont>
      <p:font typeface="Canva Sans" charset="1" panose="020B0503030501040103"/>
      <p:regular r:id="rId18"/>
    </p:embeddedFont>
    <p:embeddedFont>
      <p:font typeface="Glacial Indifference Bold" charset="1" panose="00000800000000000000"/>
      <p:regular r:id="rId19"/>
    </p:embeddedFont>
    <p:embeddedFont>
      <p:font typeface="Bernoru" charset="1" panose="00000A00000000000000"/>
      <p:regular r:id="rId20"/>
    </p:embeddedFont>
    <p:embeddedFont>
      <p:font typeface="Glacial Indifference" charset="1" panose="0000000000000000000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27.gif"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3" id="13"/>
          <p:cNvSpPr/>
          <p:nvPr/>
        </p:nvSpPr>
        <p:spPr>
          <a:xfrm flipH="false" flipV="false" rot="1696580">
            <a:off x="13678368" y="7787722"/>
            <a:ext cx="861481" cy="479297"/>
          </a:xfrm>
          <a:custGeom>
            <a:avLst/>
            <a:gdLst/>
            <a:ahLst/>
            <a:cxnLst/>
            <a:rect r="r" b="b" t="t" l="l"/>
            <a:pathLst>
              <a:path h="479297" w="861481">
                <a:moveTo>
                  <a:pt x="0" y="0"/>
                </a:moveTo>
                <a:lnTo>
                  <a:pt x="861481" y="0"/>
                </a:lnTo>
                <a:lnTo>
                  <a:pt x="861481" y="479297"/>
                </a:lnTo>
                <a:lnTo>
                  <a:pt x="0" y="47929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4" id="14"/>
          <p:cNvSpPr/>
          <p:nvPr/>
        </p:nvSpPr>
        <p:spPr>
          <a:xfrm flipH="false" flipV="false" rot="0">
            <a:off x="15894029" y="7612266"/>
            <a:ext cx="716336" cy="769502"/>
          </a:xfrm>
          <a:custGeom>
            <a:avLst/>
            <a:gdLst/>
            <a:ahLst/>
            <a:cxnLst/>
            <a:rect r="r" b="b" t="t" l="l"/>
            <a:pathLst>
              <a:path h="769502" w="716336">
                <a:moveTo>
                  <a:pt x="0" y="0"/>
                </a:moveTo>
                <a:lnTo>
                  <a:pt x="716337" y="0"/>
                </a:lnTo>
                <a:lnTo>
                  <a:pt x="716337" y="769502"/>
                </a:lnTo>
                <a:lnTo>
                  <a:pt x="0" y="769502"/>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15" id="15"/>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16" id="16"/>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17" id="17"/>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8" id="18"/>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0" id="20"/>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TextBox 21" id="21"/>
          <p:cNvSpPr txBox="true"/>
          <p:nvPr/>
        </p:nvSpPr>
        <p:spPr>
          <a:xfrm rot="0">
            <a:off x="3540939" y="3949693"/>
            <a:ext cx="10900975" cy="101175052"/>
          </a:xfrm>
          <a:prstGeom prst="rect">
            <a:avLst/>
          </a:prstGeom>
        </p:spPr>
        <p:txBody>
          <a:bodyPr anchor="t" rtlCol="false" tIns="0" lIns="0" bIns="0" rIns="0">
            <a:spAutoFit/>
          </a:bodyPr>
          <a:lstStyle/>
          <a:p>
            <a:pPr algn="ctr">
              <a:lnSpc>
                <a:spcPts val="6272"/>
              </a:lnSpc>
            </a:pPr>
            <a:r>
              <a:rPr lang="en-US" sz="4480" b="true">
                <a:solidFill>
                  <a:srgbClr val="863434"/>
                </a:solidFill>
                <a:latin typeface="Canva Sans Bold"/>
                <a:ea typeface="Canva Sans Bold"/>
                <a:cs typeface="Canva Sans Bold"/>
                <a:sym typeface="Canva Sans Bold"/>
              </a:rPr>
              <a:t>GVHD: Dương Phi Long</a:t>
            </a:r>
          </a:p>
          <a:p>
            <a:pPr algn="ctr">
              <a:lnSpc>
                <a:spcPts val="6272"/>
              </a:lnSpc>
            </a:pPr>
            <a:r>
              <a:rPr lang="en-US" sz="4480">
                <a:solidFill>
                  <a:srgbClr val="863434"/>
                </a:solidFill>
                <a:latin typeface="Canva Sans"/>
                <a:ea typeface="Canva Sans"/>
                <a:cs typeface="Canva Sans"/>
                <a:sym typeface="Canva Sans"/>
              </a:rPr>
              <a:t>Vũ Minh Đức - 22520277</a:t>
            </a:r>
          </a:p>
          <a:p>
            <a:pPr algn="ctr">
              <a:lnSpc>
                <a:spcPts val="6272"/>
              </a:lnSpc>
            </a:pPr>
            <a:r>
              <a:rPr lang="en-US" sz="4480">
                <a:solidFill>
                  <a:srgbClr val="863434"/>
                </a:solidFill>
                <a:latin typeface="Canva Sans"/>
                <a:ea typeface="Canva Sans"/>
                <a:cs typeface="Canva Sans"/>
                <a:sym typeface="Canva Sans"/>
              </a:rPr>
              <a:t>Nguyễn Thị Thuý Vy - 22521706</a:t>
            </a:r>
          </a:p>
          <a:p>
            <a:pPr algn="ctr">
              <a:lnSpc>
                <a:spcPts val="6272"/>
              </a:lnSpc>
            </a:pPr>
            <a:r>
              <a:rPr lang="en-US" sz="4480">
                <a:solidFill>
                  <a:srgbClr val="863434"/>
                </a:solidFill>
                <a:latin typeface="Canva Sans"/>
                <a:ea typeface="Canva Sans"/>
                <a:cs typeface="Canva Sans"/>
                <a:sym typeface="Canva Sans"/>
              </a:rPr>
              <a:t>Phan Thị Tường Vi - 22521658</a:t>
            </a:r>
          </a:p>
          <a:p>
            <a:pPr algn="ctr">
              <a:lnSpc>
                <a:spcPts val="6272"/>
              </a:lnSpc>
            </a:pPr>
            <a:r>
              <a:rPr lang="en-US" sz="4480">
                <a:solidFill>
                  <a:srgbClr val="863434"/>
                </a:solidFill>
                <a:latin typeface="Canva Sans"/>
                <a:ea typeface="Canva Sans"/>
                <a:cs typeface="Canva Sans"/>
                <a:sym typeface="Canva Sans"/>
              </a:rPr>
              <a:t>Lê Thị Ánh Xuân -  22521714</a:t>
            </a: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 </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ĐĂNG KÝ NHÓM</a:t>
            </a: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THỜI GIAN BÁO CÁO</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DS LOP - Điểm BT LT</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DS LỚP</a:t>
            </a: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Phan Thị Tường Vi</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 </a:t>
            </a: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 </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ĐĂNG KÝ NHÓM</a:t>
            </a: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THỜI GIAN BÁO CÁO</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DS LOP - Điểm BT LT</a:t>
            </a: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DS LỚP</a:t>
            </a:r>
          </a:p>
          <a:p>
            <a:pPr algn="ctr">
              <a:lnSpc>
                <a:spcPts val="6272"/>
              </a:lnSpc>
            </a:pPr>
          </a:p>
          <a:p>
            <a:pPr algn="ctr">
              <a:lnSpc>
                <a:spcPts val="6272"/>
              </a:lnSpc>
            </a:pPr>
          </a:p>
          <a:p>
            <a:pPr algn="ctr">
              <a:lnSpc>
                <a:spcPts val="6272"/>
              </a:lnSpc>
            </a:pPr>
          </a:p>
          <a:p>
            <a:pPr algn="ctr">
              <a:lnSpc>
                <a:spcPts val="6272"/>
              </a:lnSpc>
            </a:pPr>
          </a:p>
          <a:p>
            <a:pPr algn="ctr">
              <a:lnSpc>
                <a:spcPts val="6272"/>
              </a:lnSpc>
            </a:pPr>
          </a:p>
          <a:p>
            <a:pPr algn="ctr">
              <a:lnSpc>
                <a:spcPts val="6272"/>
              </a:lnSpc>
            </a:pPr>
            <a:r>
              <a:rPr lang="en-US" sz="4480" b="true">
                <a:solidFill>
                  <a:srgbClr val="863434"/>
                </a:solidFill>
                <a:latin typeface="Glacial Indifference Bold"/>
                <a:ea typeface="Glacial Indifference Bold"/>
                <a:cs typeface="Glacial Indifference Bold"/>
                <a:sym typeface="Glacial Indifference Bold"/>
              </a:rPr>
              <a:t>Phan Thị Tường Vi</a:t>
            </a:r>
          </a:p>
          <a:p>
            <a:pPr algn="ctr">
              <a:lnSpc>
                <a:spcPts val="6272"/>
              </a:lnSpc>
            </a:pPr>
          </a:p>
          <a:p>
            <a:pPr algn="ctr">
              <a:lnSpc>
                <a:spcPts val="6272"/>
              </a:lnSpc>
            </a:pPr>
          </a:p>
          <a:p>
            <a:pPr algn="ctr">
              <a:lnSpc>
                <a:spcPts val="6272"/>
              </a:lnSpc>
            </a:pPr>
          </a:p>
          <a:p>
            <a:pPr algn="ctr">
              <a:lnSpc>
                <a:spcPts val="6272"/>
              </a:lnSpc>
            </a:pPr>
          </a:p>
        </p:txBody>
      </p:sp>
      <p:sp>
        <p:nvSpPr>
          <p:cNvPr name="TextBox 22" id="22"/>
          <p:cNvSpPr txBox="true"/>
          <p:nvPr/>
        </p:nvSpPr>
        <p:spPr>
          <a:xfrm rot="0">
            <a:off x="1401720" y="1444590"/>
            <a:ext cx="16029128" cy="2032538"/>
          </a:xfrm>
          <a:prstGeom prst="rect">
            <a:avLst/>
          </a:prstGeom>
        </p:spPr>
        <p:txBody>
          <a:bodyPr anchor="t" rtlCol="false" tIns="0" lIns="0" bIns="0" rIns="0">
            <a:spAutoFit/>
          </a:bodyPr>
          <a:lstStyle/>
          <a:p>
            <a:pPr algn="ctr">
              <a:lnSpc>
                <a:spcPts val="8199"/>
              </a:lnSpc>
            </a:pPr>
            <a:r>
              <a:rPr lang="en-US" sz="5856">
                <a:solidFill>
                  <a:srgbClr val="FFB9B9"/>
                </a:solidFill>
                <a:latin typeface="Canva Sans"/>
                <a:ea typeface="Canva Sans"/>
                <a:cs typeface="Canva Sans"/>
                <a:sym typeface="Canva Sans"/>
              </a:rPr>
              <a:t>Áp dụng Phân tích dữ liệu kinh doanh vào việc Dự báo giá dầu trong tương lai</a:t>
            </a:r>
          </a:p>
        </p:txBody>
      </p:sp>
      <p:sp>
        <p:nvSpPr>
          <p:cNvPr name="Freeform 23" id="23"/>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3" id="13"/>
          <p:cNvSpPr/>
          <p:nvPr/>
        </p:nvSpPr>
        <p:spPr>
          <a:xfrm flipH="false" flipV="false" rot="1696580">
            <a:off x="13890740" y="7987349"/>
            <a:ext cx="598825" cy="333164"/>
          </a:xfrm>
          <a:custGeom>
            <a:avLst/>
            <a:gdLst/>
            <a:ahLst/>
            <a:cxnLst/>
            <a:rect r="r" b="b" t="t" l="l"/>
            <a:pathLst>
              <a:path h="333164" w="598825">
                <a:moveTo>
                  <a:pt x="0" y="0"/>
                </a:moveTo>
                <a:lnTo>
                  <a:pt x="598825" y="0"/>
                </a:lnTo>
                <a:lnTo>
                  <a:pt x="598825" y="333164"/>
                </a:lnTo>
                <a:lnTo>
                  <a:pt x="0" y="33316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4" id="14"/>
          <p:cNvSpPr/>
          <p:nvPr/>
        </p:nvSpPr>
        <p:spPr>
          <a:xfrm flipH="false" flipV="false" rot="0">
            <a:off x="15894029" y="7865388"/>
            <a:ext cx="480703" cy="516380"/>
          </a:xfrm>
          <a:custGeom>
            <a:avLst/>
            <a:gdLst/>
            <a:ahLst/>
            <a:cxnLst/>
            <a:rect r="r" b="b" t="t" l="l"/>
            <a:pathLst>
              <a:path h="516380" w="480703">
                <a:moveTo>
                  <a:pt x="0" y="0"/>
                </a:moveTo>
                <a:lnTo>
                  <a:pt x="480704" y="0"/>
                </a:lnTo>
                <a:lnTo>
                  <a:pt x="480704" y="516380"/>
                </a:lnTo>
                <a:lnTo>
                  <a:pt x="0" y="51638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15" id="15"/>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16" id="16"/>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17" id="17"/>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8" id="18"/>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0" id="20"/>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1" id="21"/>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2" id="22"/>
          <p:cNvSpPr txBox="true"/>
          <p:nvPr/>
        </p:nvSpPr>
        <p:spPr>
          <a:xfrm rot="0">
            <a:off x="6774676" y="1342772"/>
            <a:ext cx="4738648" cy="1028626"/>
          </a:xfrm>
          <a:prstGeom prst="rect">
            <a:avLst/>
          </a:prstGeom>
        </p:spPr>
        <p:txBody>
          <a:bodyPr anchor="t" rtlCol="false" tIns="0" lIns="0" bIns="0" rIns="0">
            <a:spAutoFit/>
          </a:bodyPr>
          <a:lstStyle/>
          <a:p>
            <a:pPr algn="ctr">
              <a:lnSpc>
                <a:spcPts val="8400"/>
              </a:lnSpc>
            </a:pPr>
            <a:r>
              <a:rPr lang="en-US" sz="6000">
                <a:solidFill>
                  <a:srgbClr val="FFB9B9"/>
                </a:solidFill>
                <a:latin typeface="Canva Sans"/>
                <a:ea typeface="Canva Sans"/>
                <a:cs typeface="Canva Sans"/>
                <a:sym typeface="Canva Sans"/>
              </a:rPr>
              <a:t>Nội dung</a:t>
            </a:r>
          </a:p>
        </p:txBody>
      </p:sp>
      <p:sp>
        <p:nvSpPr>
          <p:cNvPr name="TextBox 23" id="23"/>
          <p:cNvSpPr txBox="true"/>
          <p:nvPr/>
        </p:nvSpPr>
        <p:spPr>
          <a:xfrm rot="0">
            <a:off x="2653838" y="3060918"/>
            <a:ext cx="14349750" cy="4038749"/>
          </a:xfrm>
          <a:prstGeom prst="rect">
            <a:avLst/>
          </a:prstGeom>
        </p:spPr>
        <p:txBody>
          <a:bodyPr anchor="t" rtlCol="false" tIns="0" lIns="0" bIns="0" rIns="0">
            <a:spAutoFit/>
          </a:bodyPr>
          <a:lstStyle/>
          <a:p>
            <a:pPr algn="l" marL="863598" indent="-431799" lvl="1">
              <a:lnSpc>
                <a:spcPts val="5599"/>
              </a:lnSpc>
              <a:buFont typeface="Arial"/>
              <a:buChar char="•"/>
            </a:pPr>
            <a:r>
              <a:rPr lang="en-US" sz="3999">
                <a:solidFill>
                  <a:srgbClr val="863434"/>
                </a:solidFill>
                <a:latin typeface="Canva Sans"/>
                <a:ea typeface="Canva Sans"/>
                <a:cs typeface="Canva Sans"/>
                <a:sym typeface="Canva Sans"/>
              </a:rPr>
              <a:t>Giới thiệu về đề tài</a:t>
            </a:r>
          </a:p>
          <a:p>
            <a:pPr algn="l" marL="863598" indent="-431799" lvl="1">
              <a:lnSpc>
                <a:spcPts val="5599"/>
              </a:lnSpc>
              <a:buFont typeface="Arial"/>
              <a:buChar char="•"/>
            </a:pPr>
            <a:r>
              <a:rPr lang="en-US" sz="3999">
                <a:solidFill>
                  <a:srgbClr val="863434"/>
                </a:solidFill>
                <a:latin typeface="Canva Sans"/>
                <a:ea typeface="Canva Sans"/>
                <a:cs typeface="Canva Sans"/>
                <a:sym typeface="Canva Sans"/>
              </a:rPr>
              <a:t>Giới thiệu chung về bộ dữ liệu</a:t>
            </a:r>
          </a:p>
          <a:p>
            <a:pPr algn="l" marL="863598" indent="-431799" lvl="1">
              <a:lnSpc>
                <a:spcPts val="5599"/>
              </a:lnSpc>
              <a:buFont typeface="Arial"/>
              <a:buChar char="•"/>
            </a:pPr>
            <a:r>
              <a:rPr lang="en-US" sz="3999">
                <a:solidFill>
                  <a:srgbClr val="863434"/>
                </a:solidFill>
                <a:latin typeface="Canva Sans"/>
                <a:ea typeface="Canva Sans"/>
                <a:cs typeface="Canva Sans"/>
                <a:sym typeface="Canva Sans"/>
              </a:rPr>
              <a:t>Giới thiệu chung về bài toán, các hướng tiếp cận</a:t>
            </a:r>
          </a:p>
          <a:p>
            <a:pPr algn="l" marL="863598" indent="-431799" lvl="1">
              <a:lnSpc>
                <a:spcPts val="5599"/>
              </a:lnSpc>
              <a:buFont typeface="Arial"/>
              <a:buChar char="•"/>
            </a:pPr>
            <a:r>
              <a:rPr lang="en-US" sz="3999">
                <a:solidFill>
                  <a:srgbClr val="863434"/>
                </a:solidFill>
                <a:latin typeface="Canva Sans"/>
                <a:ea typeface="Canva Sans"/>
                <a:cs typeface="Canva Sans"/>
                <a:sym typeface="Canva Sans"/>
              </a:rPr>
              <a:t>Giới thiệu chung về phương pháp, kỹ thuật áp dụng</a:t>
            </a:r>
          </a:p>
          <a:p>
            <a:pPr algn="l">
              <a:lnSpc>
                <a:spcPts val="4900"/>
              </a:lnSpc>
            </a:pPr>
          </a:p>
          <a:p>
            <a:pPr algn="l">
              <a:lnSpc>
                <a:spcPts val="4900"/>
              </a:lnSpc>
            </a:pP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3138587" y="2195457"/>
            <a:ext cx="12315626" cy="6143338"/>
            <a:chOff x="0" y="0"/>
            <a:chExt cx="3243622" cy="1617999"/>
          </a:xfrm>
        </p:grpSpPr>
        <p:sp>
          <p:nvSpPr>
            <p:cNvPr name="Freeform 14" id="14"/>
            <p:cNvSpPr/>
            <p:nvPr/>
          </p:nvSpPr>
          <p:spPr>
            <a:xfrm flipH="false" flipV="false" rot="0">
              <a:off x="0" y="0"/>
              <a:ext cx="3243622" cy="1617999"/>
            </a:xfrm>
            <a:custGeom>
              <a:avLst/>
              <a:gdLst/>
              <a:ahLst/>
              <a:cxnLst/>
              <a:rect r="r" b="b" t="t" l="l"/>
              <a:pathLst>
                <a:path h="1617999" w="3243622">
                  <a:moveTo>
                    <a:pt x="32060" y="0"/>
                  </a:moveTo>
                  <a:lnTo>
                    <a:pt x="3211562" y="0"/>
                  </a:lnTo>
                  <a:cubicBezTo>
                    <a:pt x="3220064" y="0"/>
                    <a:pt x="3228219" y="3378"/>
                    <a:pt x="3234231" y="9390"/>
                  </a:cubicBezTo>
                  <a:cubicBezTo>
                    <a:pt x="3240244" y="15403"/>
                    <a:pt x="3243622" y="23557"/>
                    <a:pt x="3243622" y="32060"/>
                  </a:cubicBezTo>
                  <a:lnTo>
                    <a:pt x="3243622" y="1585939"/>
                  </a:lnTo>
                  <a:cubicBezTo>
                    <a:pt x="3243622" y="1603645"/>
                    <a:pt x="3229268" y="1617999"/>
                    <a:pt x="3211562" y="1617999"/>
                  </a:cubicBezTo>
                  <a:lnTo>
                    <a:pt x="32060" y="1617999"/>
                  </a:lnTo>
                  <a:cubicBezTo>
                    <a:pt x="14354" y="1617999"/>
                    <a:pt x="0" y="1603645"/>
                    <a:pt x="0" y="1585939"/>
                  </a:cubicBezTo>
                  <a:lnTo>
                    <a:pt x="0" y="32060"/>
                  </a:lnTo>
                  <a:cubicBezTo>
                    <a:pt x="0" y="14354"/>
                    <a:pt x="14354" y="0"/>
                    <a:pt x="32060" y="0"/>
                  </a:cubicBezTo>
                  <a:close/>
                </a:path>
              </a:pathLst>
            </a:custGeom>
            <a:solidFill>
              <a:srgbClr val="863434"/>
            </a:solidFill>
          </p:spPr>
        </p:sp>
        <p:sp>
          <p:nvSpPr>
            <p:cNvPr name="TextBox 15" id="15"/>
            <p:cNvSpPr txBox="true"/>
            <p:nvPr/>
          </p:nvSpPr>
          <p:spPr>
            <a:xfrm>
              <a:off x="0" y="-38100"/>
              <a:ext cx="3243622" cy="1656099"/>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2986187" y="2043057"/>
            <a:ext cx="12315626" cy="6143338"/>
            <a:chOff x="0" y="0"/>
            <a:chExt cx="3243622" cy="1617999"/>
          </a:xfrm>
        </p:grpSpPr>
        <p:sp>
          <p:nvSpPr>
            <p:cNvPr name="Freeform 17" id="17"/>
            <p:cNvSpPr/>
            <p:nvPr/>
          </p:nvSpPr>
          <p:spPr>
            <a:xfrm flipH="false" flipV="false" rot="0">
              <a:off x="0" y="0"/>
              <a:ext cx="3243622" cy="1617999"/>
            </a:xfrm>
            <a:custGeom>
              <a:avLst/>
              <a:gdLst/>
              <a:ahLst/>
              <a:cxnLst/>
              <a:rect r="r" b="b" t="t" l="l"/>
              <a:pathLst>
                <a:path h="1617999" w="3243622">
                  <a:moveTo>
                    <a:pt x="32060" y="0"/>
                  </a:moveTo>
                  <a:lnTo>
                    <a:pt x="3211562" y="0"/>
                  </a:lnTo>
                  <a:cubicBezTo>
                    <a:pt x="3220064" y="0"/>
                    <a:pt x="3228219" y="3378"/>
                    <a:pt x="3234231" y="9390"/>
                  </a:cubicBezTo>
                  <a:cubicBezTo>
                    <a:pt x="3240244" y="15403"/>
                    <a:pt x="3243622" y="23557"/>
                    <a:pt x="3243622" y="32060"/>
                  </a:cubicBezTo>
                  <a:lnTo>
                    <a:pt x="3243622" y="1585939"/>
                  </a:lnTo>
                  <a:cubicBezTo>
                    <a:pt x="3243622" y="1603645"/>
                    <a:pt x="3229268" y="1617999"/>
                    <a:pt x="3211562" y="1617999"/>
                  </a:cubicBezTo>
                  <a:lnTo>
                    <a:pt x="32060" y="1617999"/>
                  </a:lnTo>
                  <a:cubicBezTo>
                    <a:pt x="14354" y="1617999"/>
                    <a:pt x="0" y="1603645"/>
                    <a:pt x="0" y="1585939"/>
                  </a:cubicBezTo>
                  <a:lnTo>
                    <a:pt x="0" y="32060"/>
                  </a:lnTo>
                  <a:cubicBezTo>
                    <a:pt x="0" y="14354"/>
                    <a:pt x="14354" y="0"/>
                    <a:pt x="32060" y="0"/>
                  </a:cubicBezTo>
                  <a:close/>
                </a:path>
              </a:pathLst>
            </a:custGeom>
            <a:solidFill>
              <a:srgbClr val="F4D7EF"/>
            </a:solidFill>
          </p:spPr>
        </p:sp>
        <p:sp>
          <p:nvSpPr>
            <p:cNvPr name="TextBox 18" id="18"/>
            <p:cNvSpPr txBox="true"/>
            <p:nvPr/>
          </p:nvSpPr>
          <p:spPr>
            <a:xfrm>
              <a:off x="0" y="-38100"/>
              <a:ext cx="3243622" cy="1656099"/>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0" id="20"/>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1" id="21"/>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2" id="22"/>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3" id="23"/>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4" id="24"/>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5" id="25"/>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6" id="26"/>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7" id="27"/>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8" id="28"/>
          <p:cNvSpPr txBox="true"/>
          <p:nvPr/>
        </p:nvSpPr>
        <p:spPr>
          <a:xfrm rot="0">
            <a:off x="5496556" y="895350"/>
            <a:ext cx="7393673" cy="1047676"/>
          </a:xfrm>
          <a:prstGeom prst="rect">
            <a:avLst/>
          </a:prstGeom>
        </p:spPr>
        <p:txBody>
          <a:bodyPr anchor="t" rtlCol="false" tIns="0" lIns="0" bIns="0" rIns="0">
            <a:spAutoFit/>
          </a:bodyPr>
          <a:lstStyle/>
          <a:p>
            <a:pPr algn="ctr">
              <a:lnSpc>
                <a:spcPts val="8400"/>
              </a:lnSpc>
            </a:pPr>
            <a:r>
              <a:rPr lang="en-US" sz="6000">
                <a:solidFill>
                  <a:srgbClr val="FFB9B9"/>
                </a:solidFill>
                <a:latin typeface="Bernoru"/>
                <a:ea typeface="Bernoru"/>
                <a:cs typeface="Bernoru"/>
                <a:sym typeface="Bernoru"/>
              </a:rPr>
              <a:t>Đề tài</a:t>
            </a:r>
          </a:p>
        </p:txBody>
      </p:sp>
      <p:sp>
        <p:nvSpPr>
          <p:cNvPr name="TextBox 29" id="29"/>
          <p:cNvSpPr txBox="true"/>
          <p:nvPr/>
        </p:nvSpPr>
        <p:spPr>
          <a:xfrm rot="0">
            <a:off x="3377022" y="2616001"/>
            <a:ext cx="11632741" cy="4930775"/>
          </a:xfrm>
          <a:prstGeom prst="rect">
            <a:avLst/>
          </a:prstGeom>
        </p:spPr>
        <p:txBody>
          <a:bodyPr anchor="t" rtlCol="false" tIns="0" lIns="0" bIns="0" rIns="0">
            <a:spAutoFit/>
          </a:bodyPr>
          <a:lstStyle/>
          <a:p>
            <a:pPr algn="l">
              <a:lnSpc>
                <a:spcPts val="4900"/>
              </a:lnSpc>
            </a:pPr>
            <a:r>
              <a:rPr lang="en-US" sz="3500">
                <a:solidFill>
                  <a:srgbClr val="863434"/>
                </a:solidFill>
                <a:latin typeface="Canva Sans"/>
                <a:ea typeface="Canva Sans"/>
                <a:cs typeface="Canva Sans"/>
                <a:sym typeface="Canva Sans"/>
              </a:rPr>
              <a:t>Đề tài nghiên cứu áp dụng các kỹ thuật phân tích dữ liệu và mô hình học máy, học sâu, chuỗi thời gian để dự báo giá dầu trong tương lai. Các mô hình sẽ được thử nghiệm với các đặc trưng khác nhau (ví dụ: chỉ sử dụng giá đóng cửa, hoặc kết hợp thêm các yếu tố như giá mở cửa, giá cao nhất, giá thấp nhất,…), để xác định mô hình nào hoạt động tốt nhất trong việc dự báo biến động giá dầu</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1149151" y="1711633"/>
            <a:ext cx="16110149" cy="7152239"/>
            <a:chOff x="0" y="0"/>
            <a:chExt cx="4243002" cy="1883717"/>
          </a:xfrm>
        </p:grpSpPr>
        <p:sp>
          <p:nvSpPr>
            <p:cNvPr name="Freeform 14" id="14"/>
            <p:cNvSpPr/>
            <p:nvPr/>
          </p:nvSpPr>
          <p:spPr>
            <a:xfrm flipH="false" flipV="false" rot="0">
              <a:off x="0" y="0"/>
              <a:ext cx="4243002" cy="1883717"/>
            </a:xfrm>
            <a:custGeom>
              <a:avLst/>
              <a:gdLst/>
              <a:ahLst/>
              <a:cxnLst/>
              <a:rect r="r" b="b" t="t" l="l"/>
              <a:pathLst>
                <a:path h="1883717" w="4243002">
                  <a:moveTo>
                    <a:pt x="24509" y="0"/>
                  </a:moveTo>
                  <a:lnTo>
                    <a:pt x="4218494" y="0"/>
                  </a:lnTo>
                  <a:cubicBezTo>
                    <a:pt x="4224994" y="0"/>
                    <a:pt x="4231227" y="2582"/>
                    <a:pt x="4235824" y="7178"/>
                  </a:cubicBezTo>
                  <a:cubicBezTo>
                    <a:pt x="4240420" y="11775"/>
                    <a:pt x="4243002" y="18009"/>
                    <a:pt x="4243002" y="24509"/>
                  </a:cubicBezTo>
                  <a:lnTo>
                    <a:pt x="4243002" y="1859209"/>
                  </a:lnTo>
                  <a:cubicBezTo>
                    <a:pt x="4243002" y="1872744"/>
                    <a:pt x="4232029" y="1883717"/>
                    <a:pt x="4218494" y="1883717"/>
                  </a:cubicBezTo>
                  <a:lnTo>
                    <a:pt x="24509" y="1883717"/>
                  </a:lnTo>
                  <a:cubicBezTo>
                    <a:pt x="18009" y="1883717"/>
                    <a:pt x="11775" y="1881135"/>
                    <a:pt x="7178" y="1876539"/>
                  </a:cubicBezTo>
                  <a:cubicBezTo>
                    <a:pt x="2582" y="1871943"/>
                    <a:pt x="0" y="1865709"/>
                    <a:pt x="0" y="1859209"/>
                  </a:cubicBezTo>
                  <a:lnTo>
                    <a:pt x="0" y="24509"/>
                  </a:lnTo>
                  <a:cubicBezTo>
                    <a:pt x="0" y="18009"/>
                    <a:pt x="2582" y="11775"/>
                    <a:pt x="7178" y="7178"/>
                  </a:cubicBezTo>
                  <a:cubicBezTo>
                    <a:pt x="11775" y="2582"/>
                    <a:pt x="18009" y="0"/>
                    <a:pt x="24509" y="0"/>
                  </a:cubicBezTo>
                  <a:close/>
                </a:path>
              </a:pathLst>
            </a:custGeom>
            <a:solidFill>
              <a:srgbClr val="F4D7EF"/>
            </a:solidFill>
          </p:spPr>
        </p:sp>
        <p:sp>
          <p:nvSpPr>
            <p:cNvPr name="TextBox 15" id="15"/>
            <p:cNvSpPr txBox="true"/>
            <p:nvPr/>
          </p:nvSpPr>
          <p:spPr>
            <a:xfrm>
              <a:off x="0" y="-38100"/>
              <a:ext cx="4243002" cy="1921817"/>
            </a:xfrm>
            <a:prstGeom prst="rect">
              <a:avLst/>
            </a:prstGeom>
          </p:spPr>
          <p:txBody>
            <a:bodyPr anchor="ctr" rtlCol="false" tIns="50800" lIns="50800" bIns="50800" rIns="50800"/>
            <a:lstStyle/>
            <a:p>
              <a:pPr algn="ctr">
                <a:lnSpc>
                  <a:spcPts val="2659"/>
                </a:lnSpc>
                <a:spcBef>
                  <a:spcPct val="0"/>
                </a:spcBef>
              </a:pPr>
            </a:p>
          </p:txBody>
        </p:sp>
      </p:grpSp>
      <p:sp>
        <p:nvSpPr>
          <p:cNvPr name="Freeform 16" id="16"/>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7" id="17"/>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18" id="18"/>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19" id="19"/>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0" id="20"/>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2" id="22"/>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3" id="23"/>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4" id="24"/>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5" id="25"/>
          <p:cNvSpPr txBox="true"/>
          <p:nvPr/>
        </p:nvSpPr>
        <p:spPr>
          <a:xfrm rot="0">
            <a:off x="5277220" y="397609"/>
            <a:ext cx="7393673" cy="1047676"/>
          </a:xfrm>
          <a:prstGeom prst="rect">
            <a:avLst/>
          </a:prstGeom>
        </p:spPr>
        <p:txBody>
          <a:bodyPr anchor="t" rtlCol="false" tIns="0" lIns="0" bIns="0" rIns="0">
            <a:spAutoFit/>
          </a:bodyPr>
          <a:lstStyle/>
          <a:p>
            <a:pPr algn="ctr">
              <a:lnSpc>
                <a:spcPts val="8400"/>
              </a:lnSpc>
            </a:pPr>
            <a:r>
              <a:rPr lang="en-US" sz="6000">
                <a:solidFill>
                  <a:srgbClr val="FFB9B9"/>
                </a:solidFill>
                <a:latin typeface="Bernoru"/>
                <a:ea typeface="Bernoru"/>
                <a:cs typeface="Bernoru"/>
                <a:sym typeface="Bernoru"/>
              </a:rPr>
              <a:t>Dataset</a:t>
            </a:r>
          </a:p>
        </p:txBody>
      </p:sp>
      <p:sp>
        <p:nvSpPr>
          <p:cNvPr name="TextBox 26" id="26"/>
          <p:cNvSpPr txBox="true"/>
          <p:nvPr/>
        </p:nvSpPr>
        <p:spPr>
          <a:xfrm rot="0">
            <a:off x="1965657" y="2287225"/>
            <a:ext cx="14655871" cy="9883775"/>
          </a:xfrm>
          <a:prstGeom prst="rect">
            <a:avLst/>
          </a:prstGeom>
        </p:spPr>
        <p:txBody>
          <a:bodyPr anchor="t" rtlCol="false" tIns="0" lIns="0" bIns="0" rIns="0">
            <a:spAutoFit/>
          </a:bodyPr>
          <a:lstStyle/>
          <a:p>
            <a:pPr algn="just">
              <a:lnSpc>
                <a:spcPts val="4900"/>
              </a:lnSpc>
            </a:pPr>
            <a:r>
              <a:rPr lang="en-US" sz="3500" b="true">
                <a:solidFill>
                  <a:srgbClr val="863434"/>
                </a:solidFill>
                <a:latin typeface="Canva Sans Bold"/>
                <a:ea typeface="Canva Sans Bold"/>
                <a:cs typeface="Canva Sans Bold"/>
                <a:sym typeface="Canva Sans Bold"/>
              </a:rPr>
              <a:t>Tên bộ dữ liệu: </a:t>
            </a:r>
            <a:r>
              <a:rPr lang="en-US" sz="3500">
                <a:solidFill>
                  <a:srgbClr val="863434"/>
                </a:solidFill>
                <a:latin typeface="Canva Sans"/>
                <a:ea typeface="Canva Sans"/>
                <a:cs typeface="Canva Sans"/>
                <a:sym typeface="Canva Sans"/>
              </a:rPr>
              <a:t>Oil, Gas &amp; Other Fuels Futures Data</a:t>
            </a:r>
          </a:p>
          <a:p>
            <a:pPr algn="just">
              <a:lnSpc>
                <a:spcPts val="4900"/>
              </a:lnSpc>
            </a:pPr>
            <a:r>
              <a:rPr lang="en-US" sz="3500" b="true">
                <a:solidFill>
                  <a:srgbClr val="863434"/>
                </a:solidFill>
                <a:latin typeface="Canva Sans Bold"/>
                <a:ea typeface="Canva Sans Bold"/>
                <a:cs typeface="Canva Sans Bold"/>
                <a:sym typeface="Canva Sans Bold"/>
              </a:rPr>
              <a:t>Cộng tác viên:</a:t>
            </a:r>
            <a:r>
              <a:rPr lang="en-US" sz="3500">
                <a:solidFill>
                  <a:srgbClr val="863434"/>
                </a:solidFill>
                <a:latin typeface="Canva Sans"/>
                <a:ea typeface="Canva Sans"/>
                <a:cs typeface="Canva Sans"/>
                <a:sym typeface="Canva Sans"/>
              </a:rPr>
              <a:t> Guillem SD</a:t>
            </a:r>
          </a:p>
          <a:p>
            <a:pPr algn="just">
              <a:lnSpc>
                <a:spcPts val="4900"/>
              </a:lnSpc>
            </a:pPr>
            <a:r>
              <a:rPr lang="en-US" sz="3500" b="true">
                <a:solidFill>
                  <a:srgbClr val="863434"/>
                </a:solidFill>
                <a:latin typeface="Canva Sans Bold"/>
                <a:ea typeface="Canva Sans Bold"/>
                <a:cs typeface="Canva Sans Bold"/>
                <a:sym typeface="Canva Sans Bold"/>
              </a:rPr>
              <a:t>Nguồn: </a:t>
            </a:r>
            <a:r>
              <a:rPr lang="en-US" sz="3500">
                <a:solidFill>
                  <a:srgbClr val="863434"/>
                </a:solidFill>
                <a:latin typeface="Canva Sans"/>
                <a:ea typeface="Canva Sans"/>
                <a:cs typeface="Canva Sans"/>
                <a:sym typeface="Canva Sans"/>
              </a:rPr>
              <a:t>Yahoo Finance</a:t>
            </a:r>
          </a:p>
          <a:p>
            <a:pPr algn="just">
              <a:lnSpc>
                <a:spcPts val="4900"/>
              </a:lnSpc>
            </a:pPr>
            <a:r>
              <a:rPr lang="en-US" sz="3500" b="true">
                <a:solidFill>
                  <a:srgbClr val="863434"/>
                </a:solidFill>
                <a:latin typeface="Canva Sans Bold"/>
                <a:ea typeface="Canva Sans Bold"/>
                <a:cs typeface="Canva Sans Bold"/>
                <a:sym typeface="Canva Sans Bold"/>
              </a:rPr>
              <a:t>Thời gian: </a:t>
            </a:r>
            <a:r>
              <a:rPr lang="en-US" sz="3500">
                <a:solidFill>
                  <a:srgbClr val="863434"/>
                </a:solidFill>
                <a:latin typeface="Canva Sans"/>
                <a:ea typeface="Canva Sans"/>
                <a:cs typeface="Canva Sans"/>
                <a:sym typeface="Canva Sans"/>
              </a:rPr>
              <a:t>23/08/2000 – 24/06/2024</a:t>
            </a:r>
          </a:p>
          <a:p>
            <a:pPr algn="just">
              <a:lnSpc>
                <a:spcPts val="4900"/>
              </a:lnSpc>
            </a:pPr>
            <a:r>
              <a:rPr lang="en-US" sz="3500" b="true">
                <a:solidFill>
                  <a:srgbClr val="863434"/>
                </a:solidFill>
                <a:latin typeface="Canva Sans Bold"/>
                <a:ea typeface="Canva Sans Bold"/>
                <a:cs typeface="Canva Sans Bold"/>
                <a:sym typeface="Canva Sans Bold"/>
              </a:rPr>
              <a:t>Tổng quan: </a:t>
            </a:r>
            <a:r>
              <a:rPr lang="en-US" sz="3500">
                <a:solidFill>
                  <a:srgbClr val="863434"/>
                </a:solidFill>
                <a:latin typeface="Canva Sans"/>
                <a:ea typeface="Canva Sans"/>
                <a:cs typeface="Canva Sans"/>
                <a:sym typeface="Canva Sans"/>
              </a:rPr>
              <a:t>Tập dữ liệu này cung cấp thông tin toàn diện và cập nhật mới về hợp đồng tương lai liên quan đến dầu, khí đốt và các loại nhiên liệu khác. Hợp đồng tương lai là các hợp đồng tài chính bắt buộc người mua phải mua và người bán phải bán một lượng nhiên liệu cụ thể với mức giá được xác định trước vào một ngày trong tương lai.</a:t>
            </a:r>
          </a:p>
          <a:p>
            <a:pPr algn="just">
              <a:lnSpc>
                <a:spcPts val="4900"/>
              </a:lnSpc>
            </a:pPr>
          </a:p>
          <a:p>
            <a:pPr algn="just">
              <a:lnSpc>
                <a:spcPts val="4900"/>
              </a:lnSpc>
            </a:pPr>
          </a:p>
          <a:p>
            <a:pPr algn="just">
              <a:lnSpc>
                <a:spcPts val="4900"/>
              </a:lnSpc>
            </a:pPr>
          </a:p>
          <a:p>
            <a:pPr algn="just">
              <a:lnSpc>
                <a:spcPts val="4900"/>
              </a:lnSpc>
            </a:pPr>
          </a:p>
          <a:p>
            <a:pPr algn="just">
              <a:lnSpc>
                <a:spcPts val="4900"/>
              </a:lnSpc>
            </a:pPr>
          </a:p>
          <a:p>
            <a:pPr algn="just">
              <a:lnSpc>
                <a:spcPts val="4900"/>
              </a:lnSpc>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2536812" y="1681917"/>
            <a:ext cx="15014073" cy="7085432"/>
            <a:chOff x="0" y="0"/>
            <a:chExt cx="3954324" cy="1866122"/>
          </a:xfrm>
        </p:grpSpPr>
        <p:sp>
          <p:nvSpPr>
            <p:cNvPr name="Freeform 14" id="14"/>
            <p:cNvSpPr/>
            <p:nvPr/>
          </p:nvSpPr>
          <p:spPr>
            <a:xfrm flipH="false" flipV="false" rot="0">
              <a:off x="0" y="0"/>
              <a:ext cx="3954324" cy="1866122"/>
            </a:xfrm>
            <a:custGeom>
              <a:avLst/>
              <a:gdLst/>
              <a:ahLst/>
              <a:cxnLst/>
              <a:rect r="r" b="b" t="t" l="l"/>
              <a:pathLst>
                <a:path h="1866122" w="3954324">
                  <a:moveTo>
                    <a:pt x="26298" y="0"/>
                  </a:moveTo>
                  <a:lnTo>
                    <a:pt x="3928026" y="0"/>
                  </a:lnTo>
                  <a:cubicBezTo>
                    <a:pt x="3942550" y="0"/>
                    <a:pt x="3954324" y="11774"/>
                    <a:pt x="3954324" y="26298"/>
                  </a:cubicBezTo>
                  <a:lnTo>
                    <a:pt x="3954324" y="1839824"/>
                  </a:lnTo>
                  <a:cubicBezTo>
                    <a:pt x="3954324" y="1854348"/>
                    <a:pt x="3942550" y="1866122"/>
                    <a:pt x="3928026" y="1866122"/>
                  </a:cubicBezTo>
                  <a:lnTo>
                    <a:pt x="26298" y="1866122"/>
                  </a:lnTo>
                  <a:cubicBezTo>
                    <a:pt x="11774" y="1866122"/>
                    <a:pt x="0" y="1854348"/>
                    <a:pt x="0" y="1839824"/>
                  </a:cubicBezTo>
                  <a:lnTo>
                    <a:pt x="0" y="26298"/>
                  </a:lnTo>
                  <a:cubicBezTo>
                    <a:pt x="0" y="11774"/>
                    <a:pt x="11774" y="0"/>
                    <a:pt x="26298" y="0"/>
                  </a:cubicBezTo>
                  <a:close/>
                </a:path>
              </a:pathLst>
            </a:custGeom>
            <a:solidFill>
              <a:srgbClr val="863434"/>
            </a:solidFill>
          </p:spPr>
        </p:sp>
        <p:sp>
          <p:nvSpPr>
            <p:cNvPr name="TextBox 15" id="15"/>
            <p:cNvSpPr txBox="true"/>
            <p:nvPr/>
          </p:nvSpPr>
          <p:spPr>
            <a:xfrm>
              <a:off x="0" y="-38100"/>
              <a:ext cx="3954324" cy="1904222"/>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1462416" y="1633935"/>
            <a:ext cx="15910874" cy="7019131"/>
            <a:chOff x="0" y="0"/>
            <a:chExt cx="4190518" cy="1848660"/>
          </a:xfrm>
        </p:grpSpPr>
        <p:sp>
          <p:nvSpPr>
            <p:cNvPr name="Freeform 17" id="17"/>
            <p:cNvSpPr/>
            <p:nvPr/>
          </p:nvSpPr>
          <p:spPr>
            <a:xfrm flipH="false" flipV="false" rot="0">
              <a:off x="0" y="0"/>
              <a:ext cx="4190518" cy="1848660"/>
            </a:xfrm>
            <a:custGeom>
              <a:avLst/>
              <a:gdLst/>
              <a:ahLst/>
              <a:cxnLst/>
              <a:rect r="r" b="b" t="t" l="l"/>
              <a:pathLst>
                <a:path h="1848660" w="4190518">
                  <a:moveTo>
                    <a:pt x="24816" y="0"/>
                  </a:moveTo>
                  <a:lnTo>
                    <a:pt x="4165703" y="0"/>
                  </a:lnTo>
                  <a:cubicBezTo>
                    <a:pt x="4172284" y="0"/>
                    <a:pt x="4178596" y="2614"/>
                    <a:pt x="4183250" y="7268"/>
                  </a:cubicBezTo>
                  <a:cubicBezTo>
                    <a:pt x="4187904" y="11922"/>
                    <a:pt x="4190518" y="18234"/>
                    <a:pt x="4190518" y="24816"/>
                  </a:cubicBezTo>
                  <a:lnTo>
                    <a:pt x="4190518" y="1823844"/>
                  </a:lnTo>
                  <a:cubicBezTo>
                    <a:pt x="4190518" y="1830426"/>
                    <a:pt x="4187904" y="1836738"/>
                    <a:pt x="4183250" y="1841391"/>
                  </a:cubicBezTo>
                  <a:cubicBezTo>
                    <a:pt x="4178596" y="1846045"/>
                    <a:pt x="4172284" y="1848660"/>
                    <a:pt x="4165703" y="1848660"/>
                  </a:cubicBezTo>
                  <a:lnTo>
                    <a:pt x="24816" y="1848660"/>
                  </a:lnTo>
                  <a:cubicBezTo>
                    <a:pt x="18234" y="1848660"/>
                    <a:pt x="11922" y="1846045"/>
                    <a:pt x="7268" y="1841391"/>
                  </a:cubicBezTo>
                  <a:cubicBezTo>
                    <a:pt x="2614" y="1836738"/>
                    <a:pt x="0" y="1830426"/>
                    <a:pt x="0" y="1823844"/>
                  </a:cubicBezTo>
                  <a:lnTo>
                    <a:pt x="0" y="24816"/>
                  </a:lnTo>
                  <a:cubicBezTo>
                    <a:pt x="0" y="18234"/>
                    <a:pt x="2614" y="11922"/>
                    <a:pt x="7268" y="7268"/>
                  </a:cubicBezTo>
                  <a:cubicBezTo>
                    <a:pt x="11922" y="2614"/>
                    <a:pt x="18234" y="0"/>
                    <a:pt x="24816" y="0"/>
                  </a:cubicBezTo>
                  <a:close/>
                </a:path>
              </a:pathLst>
            </a:custGeom>
            <a:solidFill>
              <a:srgbClr val="F4D7EF"/>
            </a:solidFill>
          </p:spPr>
        </p:sp>
        <p:sp>
          <p:nvSpPr>
            <p:cNvPr name="TextBox 18" id="18"/>
            <p:cNvSpPr txBox="true"/>
            <p:nvPr/>
          </p:nvSpPr>
          <p:spPr>
            <a:xfrm>
              <a:off x="0" y="-38100"/>
              <a:ext cx="4190518" cy="1886760"/>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0" id="20"/>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1" id="21"/>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2" id="22"/>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3" id="23"/>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4" id="24"/>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5" id="25"/>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6" id="26"/>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7" id="27"/>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8" id="28"/>
          <p:cNvSpPr txBox="true"/>
          <p:nvPr/>
        </p:nvSpPr>
        <p:spPr>
          <a:xfrm rot="0">
            <a:off x="4707846" y="545992"/>
            <a:ext cx="9282825" cy="1047676"/>
          </a:xfrm>
          <a:prstGeom prst="rect">
            <a:avLst/>
          </a:prstGeom>
        </p:spPr>
        <p:txBody>
          <a:bodyPr anchor="t" rtlCol="false" tIns="0" lIns="0" bIns="0" rIns="0">
            <a:spAutoFit/>
          </a:bodyPr>
          <a:lstStyle/>
          <a:p>
            <a:pPr algn="ctr">
              <a:lnSpc>
                <a:spcPts val="8400"/>
              </a:lnSpc>
            </a:pPr>
            <a:r>
              <a:rPr lang="en-US" sz="6000">
                <a:solidFill>
                  <a:srgbClr val="FFB9B9"/>
                </a:solidFill>
                <a:latin typeface="Bernoru"/>
                <a:ea typeface="Bernoru"/>
                <a:cs typeface="Bernoru"/>
                <a:sym typeface="Bernoru"/>
              </a:rPr>
              <a:t>Dataset</a:t>
            </a:r>
          </a:p>
        </p:txBody>
      </p:sp>
      <p:sp>
        <p:nvSpPr>
          <p:cNvPr name="TextBox 29" id="29"/>
          <p:cNvSpPr txBox="true"/>
          <p:nvPr/>
        </p:nvSpPr>
        <p:spPr>
          <a:xfrm rot="0">
            <a:off x="2120138" y="1903551"/>
            <a:ext cx="15313847" cy="7182108"/>
          </a:xfrm>
          <a:prstGeom prst="rect">
            <a:avLst/>
          </a:prstGeom>
        </p:spPr>
        <p:txBody>
          <a:bodyPr anchor="t" rtlCol="false" tIns="0" lIns="0" bIns="0" rIns="0">
            <a:spAutoFit/>
          </a:bodyPr>
          <a:lstStyle/>
          <a:p>
            <a:pPr algn="l">
              <a:lnSpc>
                <a:spcPts val="4760"/>
              </a:lnSpc>
            </a:pPr>
            <a:r>
              <a:rPr lang="en-US" sz="3400" b="true">
                <a:solidFill>
                  <a:srgbClr val="863434"/>
                </a:solidFill>
                <a:latin typeface="Canva Sans Bold"/>
                <a:ea typeface="Canva Sans Bold"/>
                <a:cs typeface="Canva Sans Bold"/>
                <a:sym typeface="Canva Sans Bold"/>
              </a:rPr>
              <a:t>Date (Ngày): </a:t>
            </a:r>
            <a:r>
              <a:rPr lang="en-US" sz="3400">
                <a:solidFill>
                  <a:srgbClr val="863434"/>
                </a:solidFill>
                <a:latin typeface="Canva Sans"/>
                <a:ea typeface="Canva Sans"/>
                <a:cs typeface="Canva Sans"/>
                <a:sym typeface="Canva Sans"/>
              </a:rPr>
              <a:t>Ngày dữ liệu được ghi nhận.</a:t>
            </a:r>
          </a:p>
          <a:p>
            <a:pPr algn="l">
              <a:lnSpc>
                <a:spcPts val="4760"/>
              </a:lnSpc>
            </a:pPr>
            <a:r>
              <a:rPr lang="en-US" sz="3400" b="true">
                <a:solidFill>
                  <a:srgbClr val="863434"/>
                </a:solidFill>
                <a:latin typeface="Canva Sans Bold"/>
                <a:ea typeface="Canva Sans Bold"/>
                <a:cs typeface="Canva Sans Bold"/>
                <a:sym typeface="Canva Sans Bold"/>
              </a:rPr>
              <a:t>· Open (Giá mở cửa): </a:t>
            </a:r>
            <a:r>
              <a:rPr lang="en-US" sz="3400">
                <a:solidFill>
                  <a:srgbClr val="863434"/>
                </a:solidFill>
                <a:latin typeface="Canva Sans"/>
                <a:ea typeface="Canva Sans"/>
                <a:cs typeface="Canva Sans"/>
                <a:sym typeface="Canva Sans"/>
              </a:rPr>
              <a:t>Giá mở cửa của thị trường trong ngày.</a:t>
            </a:r>
          </a:p>
          <a:p>
            <a:pPr algn="l">
              <a:lnSpc>
                <a:spcPts val="4760"/>
              </a:lnSpc>
            </a:pPr>
            <a:r>
              <a:rPr lang="en-US" sz="3400" b="true">
                <a:solidFill>
                  <a:srgbClr val="863434"/>
                </a:solidFill>
                <a:latin typeface="Canva Sans Bold"/>
                <a:ea typeface="Canva Sans Bold"/>
                <a:cs typeface="Canva Sans Bold"/>
                <a:sym typeface="Canva Sans Bold"/>
              </a:rPr>
              <a:t>· High (Giá cao nhất): </a:t>
            </a:r>
            <a:r>
              <a:rPr lang="en-US" sz="3400">
                <a:solidFill>
                  <a:srgbClr val="863434"/>
                </a:solidFill>
                <a:latin typeface="Canva Sans"/>
                <a:ea typeface="Canva Sans"/>
                <a:cs typeface="Canva Sans"/>
                <a:sym typeface="Canva Sans"/>
              </a:rPr>
              <a:t>Mức giá cao nhất trong phiên giao dịch.</a:t>
            </a:r>
          </a:p>
          <a:p>
            <a:pPr algn="l">
              <a:lnSpc>
                <a:spcPts val="4760"/>
              </a:lnSpc>
            </a:pPr>
            <a:r>
              <a:rPr lang="en-US" sz="3400" b="true">
                <a:solidFill>
                  <a:srgbClr val="863434"/>
                </a:solidFill>
                <a:latin typeface="Canva Sans Bold"/>
                <a:ea typeface="Canva Sans Bold"/>
                <a:cs typeface="Canva Sans Bold"/>
                <a:sym typeface="Canva Sans Bold"/>
              </a:rPr>
              <a:t>· Low (Giá thấp nhất): </a:t>
            </a:r>
            <a:r>
              <a:rPr lang="en-US" sz="3400">
                <a:solidFill>
                  <a:srgbClr val="863434"/>
                </a:solidFill>
                <a:latin typeface="Canva Sans"/>
                <a:ea typeface="Canva Sans"/>
                <a:cs typeface="Canva Sans"/>
                <a:sym typeface="Canva Sans"/>
              </a:rPr>
              <a:t>Mức giá thấp nhất trong ngày giao dịch.</a:t>
            </a:r>
          </a:p>
          <a:p>
            <a:pPr algn="l">
              <a:lnSpc>
                <a:spcPts val="4760"/>
              </a:lnSpc>
            </a:pPr>
            <a:r>
              <a:rPr lang="en-US" sz="3400" b="true">
                <a:solidFill>
                  <a:srgbClr val="863434"/>
                </a:solidFill>
                <a:latin typeface="Canva Sans Bold"/>
                <a:ea typeface="Canva Sans Bold"/>
                <a:cs typeface="Canva Sans Bold"/>
                <a:sym typeface="Canva Sans Bold"/>
              </a:rPr>
              <a:t>· Close (Giá đóng cửa): </a:t>
            </a:r>
            <a:r>
              <a:rPr lang="en-US" sz="3400">
                <a:solidFill>
                  <a:srgbClr val="863434"/>
                </a:solidFill>
                <a:latin typeface="Canva Sans"/>
                <a:ea typeface="Canva Sans"/>
                <a:cs typeface="Canva Sans"/>
                <a:sym typeface="Canva Sans"/>
              </a:rPr>
              <a:t>Giá thị trường khi kết thúc phiên giao dịch.</a:t>
            </a:r>
          </a:p>
          <a:p>
            <a:pPr algn="l">
              <a:lnSpc>
                <a:spcPts val="4760"/>
              </a:lnSpc>
            </a:pPr>
            <a:r>
              <a:rPr lang="en-US" sz="3400" b="true">
                <a:solidFill>
                  <a:srgbClr val="863434"/>
                </a:solidFill>
                <a:latin typeface="Canva Sans Bold"/>
                <a:ea typeface="Canva Sans Bold"/>
                <a:cs typeface="Canva Sans Bold"/>
                <a:sym typeface="Canva Sans Bold"/>
              </a:rPr>
              <a:t>· Volume (Khối lượng giao dịch): </a:t>
            </a:r>
            <a:r>
              <a:rPr lang="en-US" sz="3400">
                <a:solidFill>
                  <a:srgbClr val="863434"/>
                </a:solidFill>
                <a:latin typeface="Canva Sans"/>
                <a:ea typeface="Canva Sans"/>
                <a:cs typeface="Canva Sans"/>
                <a:sym typeface="Canva Sans"/>
              </a:rPr>
              <a:t>Số lượng hợp đồng được trao đổi trong phiên giao dịch.</a:t>
            </a:r>
          </a:p>
          <a:p>
            <a:pPr algn="l">
              <a:lnSpc>
                <a:spcPts val="4760"/>
              </a:lnSpc>
            </a:pPr>
            <a:r>
              <a:rPr lang="en-US" sz="3400" b="true">
                <a:solidFill>
                  <a:srgbClr val="863434"/>
                </a:solidFill>
                <a:latin typeface="Canva Sans Bold"/>
                <a:ea typeface="Canva Sans Bold"/>
                <a:cs typeface="Canva Sans Bold"/>
                <a:sym typeface="Canva Sans Bold"/>
              </a:rPr>
              <a:t>· Ticker (Mã giao dịch): </a:t>
            </a:r>
            <a:r>
              <a:rPr lang="en-US" sz="3400">
                <a:solidFill>
                  <a:srgbClr val="863434"/>
                </a:solidFill>
                <a:latin typeface="Canva Sans"/>
                <a:ea typeface="Canva Sans"/>
                <a:cs typeface="Canva Sans"/>
                <a:sym typeface="Canva Sans"/>
              </a:rPr>
              <a:t>Ký hiệu niêm yết duy nhất của hợp đồng tương lai trên thị trường.</a:t>
            </a:r>
          </a:p>
          <a:p>
            <a:pPr algn="l">
              <a:lnSpc>
                <a:spcPts val="4760"/>
              </a:lnSpc>
            </a:pPr>
            <a:r>
              <a:rPr lang="en-US" sz="3400" b="true">
                <a:solidFill>
                  <a:srgbClr val="863434"/>
                </a:solidFill>
                <a:latin typeface="Canva Sans Bold"/>
                <a:ea typeface="Canva Sans Bold"/>
                <a:cs typeface="Canva Sans Bold"/>
                <a:sym typeface="Canva Sans Bold"/>
              </a:rPr>
              <a:t>· Commodity (Hàng hóa):</a:t>
            </a:r>
            <a:r>
              <a:rPr lang="en-US" sz="3400">
                <a:solidFill>
                  <a:srgbClr val="863434"/>
                </a:solidFill>
                <a:latin typeface="Canva Sans"/>
                <a:ea typeface="Canva Sans"/>
                <a:cs typeface="Canva Sans"/>
                <a:sym typeface="Canva Sans"/>
              </a:rPr>
              <a:t> Loại nhiên liệu mà hợp đồng tương lai đề cập đến (ví dụ: dầu thô, khí tự nhiên)</a:t>
            </a:r>
          </a:p>
          <a:p>
            <a:pPr algn="l">
              <a:lnSpc>
                <a:spcPts val="4760"/>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3138587" y="2195457"/>
            <a:ext cx="12315626" cy="6143338"/>
            <a:chOff x="0" y="0"/>
            <a:chExt cx="3243622" cy="1617999"/>
          </a:xfrm>
        </p:grpSpPr>
        <p:sp>
          <p:nvSpPr>
            <p:cNvPr name="Freeform 14" id="14"/>
            <p:cNvSpPr/>
            <p:nvPr/>
          </p:nvSpPr>
          <p:spPr>
            <a:xfrm flipH="false" flipV="false" rot="0">
              <a:off x="0" y="0"/>
              <a:ext cx="3243622" cy="1617999"/>
            </a:xfrm>
            <a:custGeom>
              <a:avLst/>
              <a:gdLst/>
              <a:ahLst/>
              <a:cxnLst/>
              <a:rect r="r" b="b" t="t" l="l"/>
              <a:pathLst>
                <a:path h="1617999" w="3243622">
                  <a:moveTo>
                    <a:pt x="32060" y="0"/>
                  </a:moveTo>
                  <a:lnTo>
                    <a:pt x="3211562" y="0"/>
                  </a:lnTo>
                  <a:cubicBezTo>
                    <a:pt x="3220064" y="0"/>
                    <a:pt x="3228219" y="3378"/>
                    <a:pt x="3234231" y="9390"/>
                  </a:cubicBezTo>
                  <a:cubicBezTo>
                    <a:pt x="3240244" y="15403"/>
                    <a:pt x="3243622" y="23557"/>
                    <a:pt x="3243622" y="32060"/>
                  </a:cubicBezTo>
                  <a:lnTo>
                    <a:pt x="3243622" y="1585939"/>
                  </a:lnTo>
                  <a:cubicBezTo>
                    <a:pt x="3243622" y="1603645"/>
                    <a:pt x="3229268" y="1617999"/>
                    <a:pt x="3211562" y="1617999"/>
                  </a:cubicBezTo>
                  <a:lnTo>
                    <a:pt x="32060" y="1617999"/>
                  </a:lnTo>
                  <a:cubicBezTo>
                    <a:pt x="14354" y="1617999"/>
                    <a:pt x="0" y="1603645"/>
                    <a:pt x="0" y="1585939"/>
                  </a:cubicBezTo>
                  <a:lnTo>
                    <a:pt x="0" y="32060"/>
                  </a:lnTo>
                  <a:cubicBezTo>
                    <a:pt x="0" y="14354"/>
                    <a:pt x="14354" y="0"/>
                    <a:pt x="32060" y="0"/>
                  </a:cubicBezTo>
                  <a:close/>
                </a:path>
              </a:pathLst>
            </a:custGeom>
            <a:solidFill>
              <a:srgbClr val="863434"/>
            </a:solidFill>
          </p:spPr>
        </p:sp>
        <p:sp>
          <p:nvSpPr>
            <p:cNvPr name="TextBox 15" id="15"/>
            <p:cNvSpPr txBox="true"/>
            <p:nvPr/>
          </p:nvSpPr>
          <p:spPr>
            <a:xfrm>
              <a:off x="0" y="-38100"/>
              <a:ext cx="3243622" cy="1656099"/>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2986187" y="2043057"/>
            <a:ext cx="12315626" cy="6143338"/>
            <a:chOff x="0" y="0"/>
            <a:chExt cx="3243622" cy="1617999"/>
          </a:xfrm>
        </p:grpSpPr>
        <p:sp>
          <p:nvSpPr>
            <p:cNvPr name="Freeform 17" id="17"/>
            <p:cNvSpPr/>
            <p:nvPr/>
          </p:nvSpPr>
          <p:spPr>
            <a:xfrm flipH="false" flipV="false" rot="0">
              <a:off x="0" y="0"/>
              <a:ext cx="3243622" cy="1617999"/>
            </a:xfrm>
            <a:custGeom>
              <a:avLst/>
              <a:gdLst/>
              <a:ahLst/>
              <a:cxnLst/>
              <a:rect r="r" b="b" t="t" l="l"/>
              <a:pathLst>
                <a:path h="1617999" w="3243622">
                  <a:moveTo>
                    <a:pt x="32060" y="0"/>
                  </a:moveTo>
                  <a:lnTo>
                    <a:pt x="3211562" y="0"/>
                  </a:lnTo>
                  <a:cubicBezTo>
                    <a:pt x="3220064" y="0"/>
                    <a:pt x="3228219" y="3378"/>
                    <a:pt x="3234231" y="9390"/>
                  </a:cubicBezTo>
                  <a:cubicBezTo>
                    <a:pt x="3240244" y="15403"/>
                    <a:pt x="3243622" y="23557"/>
                    <a:pt x="3243622" y="32060"/>
                  </a:cubicBezTo>
                  <a:lnTo>
                    <a:pt x="3243622" y="1585939"/>
                  </a:lnTo>
                  <a:cubicBezTo>
                    <a:pt x="3243622" y="1603645"/>
                    <a:pt x="3229268" y="1617999"/>
                    <a:pt x="3211562" y="1617999"/>
                  </a:cubicBezTo>
                  <a:lnTo>
                    <a:pt x="32060" y="1617999"/>
                  </a:lnTo>
                  <a:cubicBezTo>
                    <a:pt x="14354" y="1617999"/>
                    <a:pt x="0" y="1603645"/>
                    <a:pt x="0" y="1585939"/>
                  </a:cubicBezTo>
                  <a:lnTo>
                    <a:pt x="0" y="32060"/>
                  </a:lnTo>
                  <a:cubicBezTo>
                    <a:pt x="0" y="14354"/>
                    <a:pt x="14354" y="0"/>
                    <a:pt x="32060" y="0"/>
                  </a:cubicBezTo>
                  <a:close/>
                </a:path>
              </a:pathLst>
            </a:custGeom>
            <a:solidFill>
              <a:srgbClr val="F4D7EF"/>
            </a:solidFill>
          </p:spPr>
        </p:sp>
        <p:sp>
          <p:nvSpPr>
            <p:cNvPr name="TextBox 18" id="18"/>
            <p:cNvSpPr txBox="true"/>
            <p:nvPr/>
          </p:nvSpPr>
          <p:spPr>
            <a:xfrm>
              <a:off x="0" y="-38100"/>
              <a:ext cx="3243622" cy="1656099"/>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0" id="20"/>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1" id="21"/>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2" id="22"/>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3" id="23"/>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4" id="24"/>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5" id="25"/>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6" id="26"/>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7" id="27"/>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8" id="28"/>
          <p:cNvSpPr txBox="true"/>
          <p:nvPr/>
        </p:nvSpPr>
        <p:spPr>
          <a:xfrm rot="0">
            <a:off x="3085005" y="833456"/>
            <a:ext cx="11875366" cy="1047676"/>
          </a:xfrm>
          <a:prstGeom prst="rect">
            <a:avLst/>
          </a:prstGeom>
        </p:spPr>
        <p:txBody>
          <a:bodyPr anchor="t" rtlCol="false" tIns="0" lIns="0" bIns="0" rIns="0">
            <a:spAutoFit/>
          </a:bodyPr>
          <a:lstStyle/>
          <a:p>
            <a:pPr algn="ctr">
              <a:lnSpc>
                <a:spcPts val="8400"/>
              </a:lnSpc>
            </a:pPr>
            <a:r>
              <a:rPr lang="en-US" sz="6000">
                <a:solidFill>
                  <a:srgbClr val="FFB9B9"/>
                </a:solidFill>
                <a:latin typeface="Bernoru"/>
                <a:ea typeface="Bernoru"/>
                <a:cs typeface="Bernoru"/>
                <a:sym typeface="Bernoru"/>
              </a:rPr>
              <a:t>Bài toán</a:t>
            </a:r>
          </a:p>
        </p:txBody>
      </p:sp>
      <p:sp>
        <p:nvSpPr>
          <p:cNvPr name="TextBox 29" id="29"/>
          <p:cNvSpPr txBox="true"/>
          <p:nvPr/>
        </p:nvSpPr>
        <p:spPr>
          <a:xfrm rot="0">
            <a:off x="3327630" y="2458838"/>
            <a:ext cx="11632741" cy="6169025"/>
          </a:xfrm>
          <a:prstGeom prst="rect">
            <a:avLst/>
          </a:prstGeom>
        </p:spPr>
        <p:txBody>
          <a:bodyPr anchor="t" rtlCol="false" tIns="0" lIns="0" bIns="0" rIns="0">
            <a:spAutoFit/>
          </a:bodyPr>
          <a:lstStyle/>
          <a:p>
            <a:pPr algn="ctr">
              <a:lnSpc>
                <a:spcPts val="4900"/>
              </a:lnSpc>
            </a:pPr>
            <a:r>
              <a:rPr lang="en-US" sz="3500" b="true">
                <a:solidFill>
                  <a:srgbClr val="863434"/>
                </a:solidFill>
                <a:latin typeface="Canva Sans Bold"/>
                <a:ea typeface="Canva Sans Bold"/>
                <a:cs typeface="Canva Sans Bold"/>
                <a:sym typeface="Canva Sans Bold"/>
              </a:rPr>
              <a:t>Dự báo giá tương lai của dầu, khí đốt và các loại nhiên liệu khác</a:t>
            </a:r>
            <a:r>
              <a:rPr lang="en-US" sz="3500">
                <a:solidFill>
                  <a:srgbClr val="863434"/>
                </a:solidFill>
                <a:latin typeface="Canva Sans"/>
                <a:ea typeface="Canva Sans"/>
                <a:cs typeface="Canva Sans"/>
                <a:sym typeface="Canva Sans"/>
              </a:rPr>
              <a:t> là một bài toán quan trọng trong lĩnh vực tài chính và năng lượng. Giá cả của các loại nhiên liệu này biến động theo thời gian do ảnh hưởng của các yếu tố kinh tế, chính trị, và môi trường. Việc dự báo chính xác giá nhiên liệu giúp các nhà đầu tư, doanh nghiệp, và cơ quan quản lý có thể đưa ra quyết định phù hợp về đầu tư, phòng ngừa rủi ro, và tối ưu hóa lợi nhuận.</a:t>
            </a:r>
          </a:p>
          <a:p>
            <a:pPr algn="ctr">
              <a:lnSpc>
                <a:spcPts val="4900"/>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682374"/>
            <a:ext cx="638944" cy="636620"/>
          </a:xfrm>
          <a:custGeom>
            <a:avLst/>
            <a:gdLst/>
            <a:ahLst/>
            <a:cxnLst/>
            <a:rect r="r" b="b" t="t" l="l"/>
            <a:pathLst>
              <a:path h="636620" w="638944">
                <a:moveTo>
                  <a:pt x="0" y="0"/>
                </a:moveTo>
                <a:lnTo>
                  <a:pt x="638944" y="0"/>
                </a:lnTo>
                <a:lnTo>
                  <a:pt x="638944" y="636621"/>
                </a:lnTo>
                <a:lnTo>
                  <a:pt x="0" y="63662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2730348" y="2118109"/>
            <a:ext cx="14703637" cy="6564266"/>
            <a:chOff x="0" y="0"/>
            <a:chExt cx="3872563" cy="1728860"/>
          </a:xfrm>
        </p:grpSpPr>
        <p:sp>
          <p:nvSpPr>
            <p:cNvPr name="Freeform 14" id="14"/>
            <p:cNvSpPr/>
            <p:nvPr/>
          </p:nvSpPr>
          <p:spPr>
            <a:xfrm flipH="false" flipV="false" rot="0">
              <a:off x="0" y="0"/>
              <a:ext cx="3872563" cy="1728860"/>
            </a:xfrm>
            <a:custGeom>
              <a:avLst/>
              <a:gdLst/>
              <a:ahLst/>
              <a:cxnLst/>
              <a:rect r="r" b="b" t="t" l="l"/>
              <a:pathLst>
                <a:path h="1728860" w="3872563">
                  <a:moveTo>
                    <a:pt x="26853" y="0"/>
                  </a:moveTo>
                  <a:lnTo>
                    <a:pt x="3845710" y="0"/>
                  </a:lnTo>
                  <a:cubicBezTo>
                    <a:pt x="3860540" y="0"/>
                    <a:pt x="3872563" y="12023"/>
                    <a:pt x="3872563" y="26853"/>
                  </a:cubicBezTo>
                  <a:lnTo>
                    <a:pt x="3872563" y="1702007"/>
                  </a:lnTo>
                  <a:cubicBezTo>
                    <a:pt x="3872563" y="1716838"/>
                    <a:pt x="3860540" y="1728860"/>
                    <a:pt x="3845710" y="1728860"/>
                  </a:cubicBezTo>
                  <a:lnTo>
                    <a:pt x="26853" y="1728860"/>
                  </a:lnTo>
                  <a:cubicBezTo>
                    <a:pt x="12023" y="1728860"/>
                    <a:pt x="0" y="1716838"/>
                    <a:pt x="0" y="1702007"/>
                  </a:cubicBezTo>
                  <a:lnTo>
                    <a:pt x="0" y="26853"/>
                  </a:lnTo>
                  <a:cubicBezTo>
                    <a:pt x="0" y="12023"/>
                    <a:pt x="12023" y="0"/>
                    <a:pt x="26853" y="0"/>
                  </a:cubicBezTo>
                  <a:close/>
                </a:path>
              </a:pathLst>
            </a:custGeom>
            <a:solidFill>
              <a:srgbClr val="863434"/>
            </a:solidFill>
          </p:spPr>
        </p:sp>
        <p:sp>
          <p:nvSpPr>
            <p:cNvPr name="TextBox 15" id="15"/>
            <p:cNvSpPr txBox="true"/>
            <p:nvPr/>
          </p:nvSpPr>
          <p:spPr>
            <a:xfrm>
              <a:off x="0" y="-38100"/>
              <a:ext cx="3872563" cy="1766960"/>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2730348" y="2030567"/>
            <a:ext cx="14451915" cy="6420849"/>
            <a:chOff x="0" y="0"/>
            <a:chExt cx="3806266" cy="1691088"/>
          </a:xfrm>
        </p:grpSpPr>
        <p:sp>
          <p:nvSpPr>
            <p:cNvPr name="Freeform 17" id="17"/>
            <p:cNvSpPr/>
            <p:nvPr/>
          </p:nvSpPr>
          <p:spPr>
            <a:xfrm flipH="false" flipV="false" rot="0">
              <a:off x="0" y="0"/>
              <a:ext cx="3806266" cy="1691088"/>
            </a:xfrm>
            <a:custGeom>
              <a:avLst/>
              <a:gdLst/>
              <a:ahLst/>
              <a:cxnLst/>
              <a:rect r="r" b="b" t="t" l="l"/>
              <a:pathLst>
                <a:path h="1691088" w="3806266">
                  <a:moveTo>
                    <a:pt x="27321" y="0"/>
                  </a:moveTo>
                  <a:lnTo>
                    <a:pt x="3778945" y="0"/>
                  </a:lnTo>
                  <a:cubicBezTo>
                    <a:pt x="3794034" y="0"/>
                    <a:pt x="3806266" y="12232"/>
                    <a:pt x="3806266" y="27321"/>
                  </a:cubicBezTo>
                  <a:lnTo>
                    <a:pt x="3806266" y="1663767"/>
                  </a:lnTo>
                  <a:cubicBezTo>
                    <a:pt x="3806266" y="1671013"/>
                    <a:pt x="3803387" y="1677962"/>
                    <a:pt x="3798264" y="1683086"/>
                  </a:cubicBezTo>
                  <a:cubicBezTo>
                    <a:pt x="3793140" y="1688209"/>
                    <a:pt x="3786191" y="1691088"/>
                    <a:pt x="3778945" y="1691088"/>
                  </a:cubicBezTo>
                  <a:lnTo>
                    <a:pt x="27321" y="1691088"/>
                  </a:lnTo>
                  <a:cubicBezTo>
                    <a:pt x="20075" y="1691088"/>
                    <a:pt x="13126" y="1688209"/>
                    <a:pt x="8002" y="1683086"/>
                  </a:cubicBezTo>
                  <a:cubicBezTo>
                    <a:pt x="2878" y="1677962"/>
                    <a:pt x="0" y="1671013"/>
                    <a:pt x="0" y="1663767"/>
                  </a:cubicBezTo>
                  <a:lnTo>
                    <a:pt x="0" y="27321"/>
                  </a:lnTo>
                  <a:cubicBezTo>
                    <a:pt x="0" y="20075"/>
                    <a:pt x="2878" y="13126"/>
                    <a:pt x="8002" y="8002"/>
                  </a:cubicBezTo>
                  <a:cubicBezTo>
                    <a:pt x="13126" y="2878"/>
                    <a:pt x="20075" y="0"/>
                    <a:pt x="27321" y="0"/>
                  </a:cubicBezTo>
                  <a:close/>
                </a:path>
              </a:pathLst>
            </a:custGeom>
            <a:solidFill>
              <a:srgbClr val="F4D7EF"/>
            </a:solidFill>
          </p:spPr>
        </p:sp>
        <p:sp>
          <p:nvSpPr>
            <p:cNvPr name="TextBox 18" id="18"/>
            <p:cNvSpPr txBox="true"/>
            <p:nvPr/>
          </p:nvSpPr>
          <p:spPr>
            <a:xfrm>
              <a:off x="0" y="-38100"/>
              <a:ext cx="3806266" cy="1729188"/>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0" id="20"/>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1" id="21"/>
          <p:cNvSpPr/>
          <p:nvPr/>
        </p:nvSpPr>
        <p:spPr>
          <a:xfrm flipH="false" flipV="false" rot="0">
            <a:off x="10376218" y="8836091"/>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2" id="22"/>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3" id="23"/>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4" id="24"/>
          <p:cNvSpPr/>
          <p:nvPr/>
        </p:nvSpPr>
        <p:spPr>
          <a:xfrm flipH="false" flipV="false" rot="0">
            <a:off x="13173010" y="8502716"/>
            <a:ext cx="2665215" cy="2040101"/>
          </a:xfrm>
          <a:custGeom>
            <a:avLst/>
            <a:gdLst/>
            <a:ahLst/>
            <a:cxnLst/>
            <a:rect r="r" b="b" t="t" l="l"/>
            <a:pathLst>
              <a:path h="2040101" w="2665215">
                <a:moveTo>
                  <a:pt x="0" y="0"/>
                </a:moveTo>
                <a:lnTo>
                  <a:pt x="2665215" y="0"/>
                </a:lnTo>
                <a:lnTo>
                  <a:pt x="2665215" y="2040101"/>
                </a:lnTo>
                <a:lnTo>
                  <a:pt x="0" y="20401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5" id="25"/>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6" id="26"/>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7" id="27"/>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8" id="28"/>
          <p:cNvSpPr txBox="true"/>
          <p:nvPr/>
        </p:nvSpPr>
        <p:spPr>
          <a:xfrm rot="0">
            <a:off x="4551980" y="895350"/>
            <a:ext cx="9282825" cy="1047676"/>
          </a:xfrm>
          <a:prstGeom prst="rect">
            <a:avLst/>
          </a:prstGeom>
        </p:spPr>
        <p:txBody>
          <a:bodyPr anchor="t" rtlCol="false" tIns="0" lIns="0" bIns="0" rIns="0">
            <a:spAutoFit/>
          </a:bodyPr>
          <a:lstStyle/>
          <a:p>
            <a:pPr algn="ctr">
              <a:lnSpc>
                <a:spcPts val="8400"/>
              </a:lnSpc>
            </a:pPr>
            <a:r>
              <a:rPr lang="en-US" sz="6000">
                <a:solidFill>
                  <a:srgbClr val="FFB9B9"/>
                </a:solidFill>
                <a:latin typeface="Bernoru"/>
                <a:ea typeface="Bernoru"/>
                <a:cs typeface="Bernoru"/>
                <a:sym typeface="Bernoru"/>
              </a:rPr>
              <a:t> Hướng tiếp cận</a:t>
            </a:r>
          </a:p>
        </p:txBody>
      </p:sp>
      <p:sp>
        <p:nvSpPr>
          <p:cNvPr name="TextBox 29" id="29"/>
          <p:cNvSpPr txBox="true"/>
          <p:nvPr/>
        </p:nvSpPr>
        <p:spPr>
          <a:xfrm rot="0">
            <a:off x="2990161" y="2282392"/>
            <a:ext cx="13631368" cy="6169025"/>
          </a:xfrm>
          <a:prstGeom prst="rect">
            <a:avLst/>
          </a:prstGeom>
        </p:spPr>
        <p:txBody>
          <a:bodyPr anchor="t" rtlCol="false" tIns="0" lIns="0" bIns="0" rIns="0">
            <a:spAutoFit/>
          </a:bodyPr>
          <a:lstStyle/>
          <a:p>
            <a:pPr algn="l" marL="755651" indent="-377825" lvl="1">
              <a:lnSpc>
                <a:spcPts val="4900"/>
              </a:lnSpc>
              <a:buFont typeface="Arial"/>
              <a:buChar char="•"/>
            </a:pPr>
            <a:r>
              <a:rPr lang="en-US" b="true" sz="3500">
                <a:solidFill>
                  <a:srgbClr val="863434"/>
                </a:solidFill>
                <a:latin typeface="Canva Sans Bold"/>
                <a:ea typeface="Canva Sans Bold"/>
                <a:cs typeface="Canva Sans Bold"/>
                <a:sym typeface="Canva Sans Bold"/>
              </a:rPr>
              <a:t>Mô hình thống kê truyền thống:</a:t>
            </a:r>
            <a:r>
              <a:rPr lang="en-US" sz="3500">
                <a:solidFill>
                  <a:srgbClr val="863434"/>
                </a:solidFill>
                <a:latin typeface="Canva Sans"/>
                <a:ea typeface="Canva Sans"/>
                <a:cs typeface="Canva Sans"/>
                <a:sym typeface="Canva Sans"/>
              </a:rPr>
              <a:t> Các mô hình như ARIMA và Holt-Winters dựa trên các giả định về cấu trúc dữ liệu và được sử dụng rộng rãi trong phân tích chuỗi thời gian.</a:t>
            </a:r>
          </a:p>
          <a:p>
            <a:pPr algn="l" marL="755651" indent="-377825" lvl="1">
              <a:lnSpc>
                <a:spcPts val="4900"/>
              </a:lnSpc>
              <a:buFont typeface="Arial"/>
              <a:buChar char="•"/>
            </a:pPr>
            <a:r>
              <a:rPr lang="en-US" b="true" sz="3500">
                <a:solidFill>
                  <a:srgbClr val="863434"/>
                </a:solidFill>
                <a:latin typeface="Canva Sans Bold"/>
                <a:ea typeface="Canva Sans Bold"/>
                <a:cs typeface="Canva Sans Bold"/>
                <a:sym typeface="Canva Sans Bold"/>
              </a:rPr>
              <a:t>Mô hình học máy:</a:t>
            </a:r>
            <a:r>
              <a:rPr lang="en-US" sz="3500">
                <a:solidFill>
                  <a:srgbClr val="863434"/>
                </a:solidFill>
                <a:latin typeface="Canva Sans"/>
                <a:ea typeface="Canva Sans"/>
                <a:cs typeface="Canva Sans"/>
                <a:sym typeface="Canva Sans"/>
              </a:rPr>
              <a:t> Các thuật toán như Random Forest, XGBoost, và CatBoost khai thác mối quan hệ phức tạp trong dữ liệu để tạo ra dự báo chính xác hơn.</a:t>
            </a:r>
          </a:p>
          <a:p>
            <a:pPr algn="l" marL="755651" indent="-377825" lvl="1">
              <a:lnSpc>
                <a:spcPts val="4900"/>
              </a:lnSpc>
              <a:buFont typeface="Arial"/>
              <a:buChar char="•"/>
            </a:pPr>
            <a:r>
              <a:rPr lang="en-US" b="true" sz="3500">
                <a:solidFill>
                  <a:srgbClr val="863434"/>
                </a:solidFill>
                <a:latin typeface="Canva Sans Bold"/>
                <a:ea typeface="Canva Sans Bold"/>
                <a:cs typeface="Canva Sans Bold"/>
                <a:sym typeface="Canva Sans Bold"/>
              </a:rPr>
              <a:t>Mô hình học sâu:</a:t>
            </a:r>
            <a:r>
              <a:rPr lang="en-US" sz="3500">
                <a:solidFill>
                  <a:srgbClr val="863434"/>
                </a:solidFill>
                <a:latin typeface="Canva Sans"/>
                <a:ea typeface="Canva Sans"/>
                <a:cs typeface="Canva Sans"/>
                <a:sym typeface="Canva Sans"/>
              </a:rPr>
              <a:t> Mạng nơ-ron hồi tiếp LSTM có khả năng học được các mẫu dữ liệu dài hạn và được sử dụng nhiều trong các bài toán dự báo chuỗi thời gian.</a:t>
            </a:r>
          </a:p>
          <a:p>
            <a:pPr algn="l">
              <a:lnSpc>
                <a:spcPts val="4900"/>
              </a:lnSpc>
            </a:pP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682374"/>
            <a:ext cx="638944" cy="636620"/>
          </a:xfrm>
          <a:custGeom>
            <a:avLst/>
            <a:gdLst/>
            <a:ahLst/>
            <a:cxnLst/>
            <a:rect r="r" b="b" t="t" l="l"/>
            <a:pathLst>
              <a:path h="636620" w="638944">
                <a:moveTo>
                  <a:pt x="0" y="0"/>
                </a:moveTo>
                <a:lnTo>
                  <a:pt x="638944" y="0"/>
                </a:lnTo>
                <a:lnTo>
                  <a:pt x="638944" y="636621"/>
                </a:lnTo>
                <a:lnTo>
                  <a:pt x="0" y="63662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2273298" y="2275901"/>
            <a:ext cx="13889521" cy="6624920"/>
            <a:chOff x="0" y="0"/>
            <a:chExt cx="18519361" cy="8833227"/>
          </a:xfrm>
        </p:grpSpPr>
        <p:grpSp>
          <p:nvGrpSpPr>
            <p:cNvPr name="Group 14" id="14"/>
            <p:cNvGrpSpPr/>
            <p:nvPr/>
          </p:nvGrpSpPr>
          <p:grpSpPr>
            <a:xfrm rot="0">
              <a:off x="801638" y="120753"/>
              <a:ext cx="17717723" cy="8712474"/>
              <a:chOff x="0" y="0"/>
              <a:chExt cx="3171041" cy="1559321"/>
            </a:xfrm>
          </p:grpSpPr>
          <p:sp>
            <p:nvSpPr>
              <p:cNvPr name="Freeform 15" id="15"/>
              <p:cNvSpPr/>
              <p:nvPr/>
            </p:nvSpPr>
            <p:spPr>
              <a:xfrm flipH="false" flipV="false" rot="0">
                <a:off x="0" y="0"/>
                <a:ext cx="3171041" cy="1559321"/>
              </a:xfrm>
              <a:custGeom>
                <a:avLst/>
                <a:gdLst/>
                <a:ahLst/>
                <a:cxnLst/>
                <a:rect r="r" b="b" t="t" l="l"/>
                <a:pathLst>
                  <a:path h="1559321" w="3171041">
                    <a:moveTo>
                      <a:pt x="32794" y="0"/>
                    </a:moveTo>
                    <a:lnTo>
                      <a:pt x="3138247" y="0"/>
                    </a:lnTo>
                    <a:cubicBezTo>
                      <a:pt x="3156359" y="0"/>
                      <a:pt x="3171041" y="14682"/>
                      <a:pt x="3171041" y="32794"/>
                    </a:cubicBezTo>
                    <a:lnTo>
                      <a:pt x="3171041" y="1526527"/>
                    </a:lnTo>
                    <a:cubicBezTo>
                      <a:pt x="3171041" y="1544638"/>
                      <a:pt x="3156359" y="1559321"/>
                      <a:pt x="3138247" y="1559321"/>
                    </a:cubicBezTo>
                    <a:lnTo>
                      <a:pt x="32794" y="1559321"/>
                    </a:lnTo>
                    <a:cubicBezTo>
                      <a:pt x="14682" y="1559321"/>
                      <a:pt x="0" y="1544638"/>
                      <a:pt x="0" y="1526527"/>
                    </a:cubicBezTo>
                    <a:lnTo>
                      <a:pt x="0" y="32794"/>
                    </a:lnTo>
                    <a:cubicBezTo>
                      <a:pt x="0" y="14682"/>
                      <a:pt x="14682" y="0"/>
                      <a:pt x="32794" y="0"/>
                    </a:cubicBezTo>
                    <a:close/>
                  </a:path>
                </a:pathLst>
              </a:custGeom>
              <a:solidFill>
                <a:srgbClr val="863434"/>
              </a:solidFill>
            </p:spPr>
          </p:sp>
          <p:sp>
            <p:nvSpPr>
              <p:cNvPr name="TextBox 16" id="16"/>
              <p:cNvSpPr txBox="true"/>
              <p:nvPr/>
            </p:nvSpPr>
            <p:spPr>
              <a:xfrm>
                <a:off x="0" y="-38100"/>
                <a:ext cx="3171041" cy="1597421"/>
              </a:xfrm>
              <a:prstGeom prst="rect">
                <a:avLst/>
              </a:prstGeom>
            </p:spPr>
            <p:txBody>
              <a:bodyPr anchor="ctr" rtlCol="false" tIns="50800" lIns="50800" bIns="50800" rIns="50800"/>
              <a:lstStyle/>
              <a:p>
                <a:pPr algn="ctr">
                  <a:lnSpc>
                    <a:spcPts val="2660"/>
                  </a:lnSpc>
                  <a:spcBef>
                    <a:spcPct val="0"/>
                  </a:spcBef>
                </a:pPr>
              </a:p>
            </p:txBody>
          </p:sp>
        </p:grpSp>
        <p:grpSp>
          <p:nvGrpSpPr>
            <p:cNvPr name="Group 17" id="17"/>
            <p:cNvGrpSpPr/>
            <p:nvPr/>
          </p:nvGrpSpPr>
          <p:grpSpPr>
            <a:xfrm rot="0">
              <a:off x="0" y="0"/>
              <a:ext cx="18047426" cy="8505564"/>
              <a:chOff x="0" y="0"/>
              <a:chExt cx="3230050" cy="1522289"/>
            </a:xfrm>
          </p:grpSpPr>
          <p:sp>
            <p:nvSpPr>
              <p:cNvPr name="Freeform 18" id="18"/>
              <p:cNvSpPr/>
              <p:nvPr/>
            </p:nvSpPr>
            <p:spPr>
              <a:xfrm flipH="false" flipV="false" rot="0">
                <a:off x="0" y="0"/>
                <a:ext cx="3230050" cy="1522289"/>
              </a:xfrm>
              <a:custGeom>
                <a:avLst/>
                <a:gdLst/>
                <a:ahLst/>
                <a:cxnLst/>
                <a:rect r="r" b="b" t="t" l="l"/>
                <a:pathLst>
                  <a:path h="1522289" w="3230050">
                    <a:moveTo>
                      <a:pt x="32195" y="0"/>
                    </a:moveTo>
                    <a:lnTo>
                      <a:pt x="3197855" y="0"/>
                    </a:lnTo>
                    <a:cubicBezTo>
                      <a:pt x="3206393" y="0"/>
                      <a:pt x="3214582" y="3392"/>
                      <a:pt x="3220620" y="9430"/>
                    </a:cubicBezTo>
                    <a:cubicBezTo>
                      <a:pt x="3226658" y="15467"/>
                      <a:pt x="3230050" y="23656"/>
                      <a:pt x="3230050" y="32195"/>
                    </a:cubicBezTo>
                    <a:lnTo>
                      <a:pt x="3230050" y="1490094"/>
                    </a:lnTo>
                    <a:cubicBezTo>
                      <a:pt x="3230050" y="1507875"/>
                      <a:pt x="3215636" y="1522289"/>
                      <a:pt x="3197855" y="1522289"/>
                    </a:cubicBezTo>
                    <a:lnTo>
                      <a:pt x="32195" y="1522289"/>
                    </a:lnTo>
                    <a:cubicBezTo>
                      <a:pt x="23656" y="1522289"/>
                      <a:pt x="15467" y="1518897"/>
                      <a:pt x="9430" y="1512859"/>
                    </a:cubicBezTo>
                    <a:cubicBezTo>
                      <a:pt x="3392" y="1506821"/>
                      <a:pt x="0" y="1498633"/>
                      <a:pt x="0" y="1490094"/>
                    </a:cubicBezTo>
                    <a:lnTo>
                      <a:pt x="0" y="32195"/>
                    </a:lnTo>
                    <a:cubicBezTo>
                      <a:pt x="0" y="14414"/>
                      <a:pt x="14414" y="0"/>
                      <a:pt x="32195" y="0"/>
                    </a:cubicBezTo>
                    <a:close/>
                  </a:path>
                </a:pathLst>
              </a:custGeom>
              <a:solidFill>
                <a:srgbClr val="F4D7EF"/>
              </a:solidFill>
            </p:spPr>
          </p:sp>
          <p:sp>
            <p:nvSpPr>
              <p:cNvPr name="TextBox 19" id="19"/>
              <p:cNvSpPr txBox="true"/>
              <p:nvPr/>
            </p:nvSpPr>
            <p:spPr>
              <a:xfrm>
                <a:off x="0" y="-38100"/>
                <a:ext cx="3230050" cy="1560389"/>
              </a:xfrm>
              <a:prstGeom prst="rect">
                <a:avLst/>
              </a:prstGeom>
            </p:spPr>
            <p:txBody>
              <a:bodyPr anchor="ctr" rtlCol="false" tIns="50800" lIns="50800" bIns="50800" rIns="50800"/>
              <a:lstStyle/>
              <a:p>
                <a:pPr algn="ctr">
                  <a:lnSpc>
                    <a:spcPts val="2660"/>
                  </a:lnSpc>
                  <a:spcBef>
                    <a:spcPct val="0"/>
                  </a:spcBef>
                </a:pPr>
              </a:p>
            </p:txBody>
          </p:sp>
        </p:grpSp>
      </p:grpSp>
      <p:sp>
        <p:nvSpPr>
          <p:cNvPr name="Freeform 20" id="20"/>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1" id="21"/>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2" id="22"/>
          <p:cNvSpPr/>
          <p:nvPr/>
        </p:nvSpPr>
        <p:spPr>
          <a:xfrm flipH="false" flipV="false" rot="0">
            <a:off x="10376218" y="8836091"/>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3" id="23"/>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4" id="24"/>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5" id="25"/>
          <p:cNvSpPr/>
          <p:nvPr/>
        </p:nvSpPr>
        <p:spPr>
          <a:xfrm flipH="false" flipV="false" rot="0">
            <a:off x="13173010" y="8502716"/>
            <a:ext cx="2665215" cy="2040101"/>
          </a:xfrm>
          <a:custGeom>
            <a:avLst/>
            <a:gdLst/>
            <a:ahLst/>
            <a:cxnLst/>
            <a:rect r="r" b="b" t="t" l="l"/>
            <a:pathLst>
              <a:path h="2040101" w="2665215">
                <a:moveTo>
                  <a:pt x="0" y="0"/>
                </a:moveTo>
                <a:lnTo>
                  <a:pt x="2665215" y="0"/>
                </a:lnTo>
                <a:lnTo>
                  <a:pt x="2665215" y="2040101"/>
                </a:lnTo>
                <a:lnTo>
                  <a:pt x="0" y="20401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6" id="26"/>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7" id="27"/>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8" id="28"/>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9" id="29"/>
          <p:cNvSpPr txBox="true"/>
          <p:nvPr/>
        </p:nvSpPr>
        <p:spPr>
          <a:xfrm rot="0">
            <a:off x="3216693" y="995186"/>
            <a:ext cx="11999462" cy="924543"/>
          </a:xfrm>
          <a:prstGeom prst="rect">
            <a:avLst/>
          </a:prstGeom>
        </p:spPr>
        <p:txBody>
          <a:bodyPr anchor="t" rtlCol="false" tIns="0" lIns="0" bIns="0" rIns="0">
            <a:spAutoFit/>
          </a:bodyPr>
          <a:lstStyle/>
          <a:p>
            <a:pPr algn="ctr">
              <a:lnSpc>
                <a:spcPts val="7443"/>
              </a:lnSpc>
            </a:pPr>
            <a:r>
              <a:rPr lang="en-US" sz="5316">
                <a:solidFill>
                  <a:srgbClr val="FFB9B9"/>
                </a:solidFill>
                <a:latin typeface="Bernoru"/>
                <a:ea typeface="Bernoru"/>
                <a:cs typeface="Bernoru"/>
                <a:sym typeface="Bernoru"/>
              </a:rPr>
              <a:t>Phương pháp, kỹ thuật áp dụng</a:t>
            </a:r>
          </a:p>
        </p:txBody>
      </p:sp>
      <p:sp>
        <p:nvSpPr>
          <p:cNvPr name="TextBox 30" id="30"/>
          <p:cNvSpPr txBox="true"/>
          <p:nvPr/>
        </p:nvSpPr>
        <p:spPr>
          <a:xfrm rot="0">
            <a:off x="3008466" y="2869660"/>
            <a:ext cx="12415916" cy="4940300"/>
          </a:xfrm>
          <a:prstGeom prst="rect">
            <a:avLst/>
          </a:prstGeom>
        </p:spPr>
        <p:txBody>
          <a:bodyPr anchor="t" rtlCol="false" tIns="0" lIns="0" bIns="0" rIns="0">
            <a:spAutoFit/>
          </a:bodyPr>
          <a:lstStyle/>
          <a:p>
            <a:pPr algn="l">
              <a:lnSpc>
                <a:spcPts val="4900"/>
              </a:lnSpc>
            </a:pPr>
            <a:r>
              <a:rPr lang="en-US" sz="3500" b="true">
                <a:solidFill>
                  <a:srgbClr val="863434"/>
                </a:solidFill>
                <a:latin typeface="Glacial Indifference Bold"/>
                <a:ea typeface="Glacial Indifference Bold"/>
                <a:cs typeface="Glacial Indifference Bold"/>
                <a:sym typeface="Glacial Indifference Bold"/>
              </a:rPr>
              <a:t>1. Mô hình thống kê</a:t>
            </a:r>
          </a:p>
          <a:p>
            <a:pPr algn="l" marL="755651" indent="-377825" lvl="1">
              <a:lnSpc>
                <a:spcPts val="4900"/>
              </a:lnSpc>
              <a:buFont typeface="Arial"/>
              <a:buChar char="•"/>
            </a:pPr>
            <a:r>
              <a:rPr lang="en-US" b="true" sz="3500">
                <a:solidFill>
                  <a:srgbClr val="863434"/>
                </a:solidFill>
                <a:latin typeface="Glacial Indifference Bold"/>
                <a:ea typeface="Glacial Indifference Bold"/>
                <a:cs typeface="Glacial Indifference Bold"/>
                <a:sym typeface="Glacial Indifference Bold"/>
              </a:rPr>
              <a:t>ARIMA</a:t>
            </a:r>
            <a:r>
              <a:rPr lang="en-US" sz="3500">
                <a:solidFill>
                  <a:srgbClr val="863434"/>
                </a:solidFill>
                <a:latin typeface="Glacial Indifference"/>
                <a:ea typeface="Glacial Indifference"/>
                <a:cs typeface="Glacial Indifference"/>
                <a:sym typeface="Glacial Indifference"/>
              </a:rPr>
              <a:t>: Kết hợp hồi quy tự động (AR), tích hợp (I) và trung bình trượt (MA) để dự báo chuỗi thời gian không có yếu tố mùa vụ.</a:t>
            </a:r>
          </a:p>
          <a:p>
            <a:pPr algn="l" marL="755651" indent="-377825" lvl="1">
              <a:lnSpc>
                <a:spcPts val="4900"/>
              </a:lnSpc>
              <a:buFont typeface="Arial"/>
              <a:buChar char="•"/>
            </a:pPr>
            <a:r>
              <a:rPr lang="en-US" b="true" sz="3500">
                <a:solidFill>
                  <a:srgbClr val="863434"/>
                </a:solidFill>
                <a:latin typeface="Glacial Indifference Bold"/>
                <a:ea typeface="Glacial Indifference Bold"/>
                <a:cs typeface="Glacial Indifference Bold"/>
                <a:sym typeface="Glacial Indifference Bold"/>
              </a:rPr>
              <a:t>Holt-Winters</a:t>
            </a:r>
            <a:r>
              <a:rPr lang="en-US" sz="3500">
                <a:solidFill>
                  <a:srgbClr val="863434"/>
                </a:solidFill>
                <a:latin typeface="Glacial Indifference"/>
                <a:ea typeface="Glacial Indifference"/>
                <a:cs typeface="Glacial Indifference"/>
                <a:sym typeface="Glacial Indifference"/>
              </a:rPr>
              <a:t>: Làm mượt dữ liệu theo ba thành phần: mức độ, xu hướng và mùa vụ, phù hợp với chuỗi thời gian có tính mùa vụ và xu hướng.</a:t>
            </a:r>
          </a:p>
          <a:p>
            <a:pPr algn="l">
              <a:lnSpc>
                <a:spcPts val="4900"/>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682374"/>
            <a:ext cx="638944" cy="636620"/>
          </a:xfrm>
          <a:custGeom>
            <a:avLst/>
            <a:gdLst/>
            <a:ahLst/>
            <a:cxnLst/>
            <a:rect r="r" b="b" t="t" l="l"/>
            <a:pathLst>
              <a:path h="636620" w="638944">
                <a:moveTo>
                  <a:pt x="0" y="0"/>
                </a:moveTo>
                <a:lnTo>
                  <a:pt x="638944" y="0"/>
                </a:lnTo>
                <a:lnTo>
                  <a:pt x="638944" y="636621"/>
                </a:lnTo>
                <a:lnTo>
                  <a:pt x="0" y="63662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2273298" y="2275901"/>
            <a:ext cx="13889521" cy="6624920"/>
            <a:chOff x="0" y="0"/>
            <a:chExt cx="18519361" cy="8833227"/>
          </a:xfrm>
        </p:grpSpPr>
        <p:grpSp>
          <p:nvGrpSpPr>
            <p:cNvPr name="Group 14" id="14"/>
            <p:cNvGrpSpPr/>
            <p:nvPr/>
          </p:nvGrpSpPr>
          <p:grpSpPr>
            <a:xfrm rot="0">
              <a:off x="801638" y="120753"/>
              <a:ext cx="17717723" cy="8712474"/>
              <a:chOff x="0" y="0"/>
              <a:chExt cx="3171041" cy="1559321"/>
            </a:xfrm>
          </p:grpSpPr>
          <p:sp>
            <p:nvSpPr>
              <p:cNvPr name="Freeform 15" id="15"/>
              <p:cNvSpPr/>
              <p:nvPr/>
            </p:nvSpPr>
            <p:spPr>
              <a:xfrm flipH="false" flipV="false" rot="0">
                <a:off x="0" y="0"/>
                <a:ext cx="3171041" cy="1559321"/>
              </a:xfrm>
              <a:custGeom>
                <a:avLst/>
                <a:gdLst/>
                <a:ahLst/>
                <a:cxnLst/>
                <a:rect r="r" b="b" t="t" l="l"/>
                <a:pathLst>
                  <a:path h="1559321" w="3171041">
                    <a:moveTo>
                      <a:pt x="32794" y="0"/>
                    </a:moveTo>
                    <a:lnTo>
                      <a:pt x="3138247" y="0"/>
                    </a:lnTo>
                    <a:cubicBezTo>
                      <a:pt x="3156359" y="0"/>
                      <a:pt x="3171041" y="14682"/>
                      <a:pt x="3171041" y="32794"/>
                    </a:cubicBezTo>
                    <a:lnTo>
                      <a:pt x="3171041" y="1526527"/>
                    </a:lnTo>
                    <a:cubicBezTo>
                      <a:pt x="3171041" y="1544638"/>
                      <a:pt x="3156359" y="1559321"/>
                      <a:pt x="3138247" y="1559321"/>
                    </a:cubicBezTo>
                    <a:lnTo>
                      <a:pt x="32794" y="1559321"/>
                    </a:lnTo>
                    <a:cubicBezTo>
                      <a:pt x="14682" y="1559321"/>
                      <a:pt x="0" y="1544638"/>
                      <a:pt x="0" y="1526527"/>
                    </a:cubicBezTo>
                    <a:lnTo>
                      <a:pt x="0" y="32794"/>
                    </a:lnTo>
                    <a:cubicBezTo>
                      <a:pt x="0" y="14682"/>
                      <a:pt x="14682" y="0"/>
                      <a:pt x="32794" y="0"/>
                    </a:cubicBezTo>
                    <a:close/>
                  </a:path>
                </a:pathLst>
              </a:custGeom>
              <a:solidFill>
                <a:srgbClr val="863434"/>
              </a:solidFill>
            </p:spPr>
          </p:sp>
          <p:sp>
            <p:nvSpPr>
              <p:cNvPr name="TextBox 16" id="16"/>
              <p:cNvSpPr txBox="true"/>
              <p:nvPr/>
            </p:nvSpPr>
            <p:spPr>
              <a:xfrm>
                <a:off x="0" y="-38100"/>
                <a:ext cx="3171041" cy="1597421"/>
              </a:xfrm>
              <a:prstGeom prst="rect">
                <a:avLst/>
              </a:prstGeom>
            </p:spPr>
            <p:txBody>
              <a:bodyPr anchor="ctr" rtlCol="false" tIns="50800" lIns="50800" bIns="50800" rIns="50800"/>
              <a:lstStyle/>
              <a:p>
                <a:pPr algn="ctr">
                  <a:lnSpc>
                    <a:spcPts val="2660"/>
                  </a:lnSpc>
                  <a:spcBef>
                    <a:spcPct val="0"/>
                  </a:spcBef>
                </a:pPr>
              </a:p>
            </p:txBody>
          </p:sp>
        </p:grpSp>
        <p:grpSp>
          <p:nvGrpSpPr>
            <p:cNvPr name="Group 17" id="17"/>
            <p:cNvGrpSpPr/>
            <p:nvPr/>
          </p:nvGrpSpPr>
          <p:grpSpPr>
            <a:xfrm rot="0">
              <a:off x="0" y="0"/>
              <a:ext cx="18047426" cy="8505564"/>
              <a:chOff x="0" y="0"/>
              <a:chExt cx="3230050" cy="1522289"/>
            </a:xfrm>
          </p:grpSpPr>
          <p:sp>
            <p:nvSpPr>
              <p:cNvPr name="Freeform 18" id="18"/>
              <p:cNvSpPr/>
              <p:nvPr/>
            </p:nvSpPr>
            <p:spPr>
              <a:xfrm flipH="false" flipV="false" rot="0">
                <a:off x="0" y="0"/>
                <a:ext cx="3230050" cy="1522289"/>
              </a:xfrm>
              <a:custGeom>
                <a:avLst/>
                <a:gdLst/>
                <a:ahLst/>
                <a:cxnLst/>
                <a:rect r="r" b="b" t="t" l="l"/>
                <a:pathLst>
                  <a:path h="1522289" w="3230050">
                    <a:moveTo>
                      <a:pt x="32195" y="0"/>
                    </a:moveTo>
                    <a:lnTo>
                      <a:pt x="3197855" y="0"/>
                    </a:lnTo>
                    <a:cubicBezTo>
                      <a:pt x="3206393" y="0"/>
                      <a:pt x="3214582" y="3392"/>
                      <a:pt x="3220620" y="9430"/>
                    </a:cubicBezTo>
                    <a:cubicBezTo>
                      <a:pt x="3226658" y="15467"/>
                      <a:pt x="3230050" y="23656"/>
                      <a:pt x="3230050" y="32195"/>
                    </a:cubicBezTo>
                    <a:lnTo>
                      <a:pt x="3230050" y="1490094"/>
                    </a:lnTo>
                    <a:cubicBezTo>
                      <a:pt x="3230050" y="1507875"/>
                      <a:pt x="3215636" y="1522289"/>
                      <a:pt x="3197855" y="1522289"/>
                    </a:cubicBezTo>
                    <a:lnTo>
                      <a:pt x="32195" y="1522289"/>
                    </a:lnTo>
                    <a:cubicBezTo>
                      <a:pt x="23656" y="1522289"/>
                      <a:pt x="15467" y="1518897"/>
                      <a:pt x="9430" y="1512859"/>
                    </a:cubicBezTo>
                    <a:cubicBezTo>
                      <a:pt x="3392" y="1506821"/>
                      <a:pt x="0" y="1498633"/>
                      <a:pt x="0" y="1490094"/>
                    </a:cubicBezTo>
                    <a:lnTo>
                      <a:pt x="0" y="32195"/>
                    </a:lnTo>
                    <a:cubicBezTo>
                      <a:pt x="0" y="14414"/>
                      <a:pt x="14414" y="0"/>
                      <a:pt x="32195" y="0"/>
                    </a:cubicBezTo>
                    <a:close/>
                  </a:path>
                </a:pathLst>
              </a:custGeom>
              <a:solidFill>
                <a:srgbClr val="F4D7EF"/>
              </a:solidFill>
            </p:spPr>
          </p:sp>
          <p:sp>
            <p:nvSpPr>
              <p:cNvPr name="TextBox 19" id="19"/>
              <p:cNvSpPr txBox="true"/>
              <p:nvPr/>
            </p:nvSpPr>
            <p:spPr>
              <a:xfrm>
                <a:off x="0" y="-38100"/>
                <a:ext cx="3230050" cy="1560389"/>
              </a:xfrm>
              <a:prstGeom prst="rect">
                <a:avLst/>
              </a:prstGeom>
            </p:spPr>
            <p:txBody>
              <a:bodyPr anchor="ctr" rtlCol="false" tIns="50800" lIns="50800" bIns="50800" rIns="50800"/>
              <a:lstStyle/>
              <a:p>
                <a:pPr algn="ctr">
                  <a:lnSpc>
                    <a:spcPts val="2660"/>
                  </a:lnSpc>
                  <a:spcBef>
                    <a:spcPct val="0"/>
                  </a:spcBef>
                </a:pPr>
              </a:p>
            </p:txBody>
          </p:sp>
        </p:grpSp>
      </p:grpSp>
      <p:sp>
        <p:nvSpPr>
          <p:cNvPr name="Freeform 20" id="20"/>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1" id="21"/>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2" id="22"/>
          <p:cNvSpPr/>
          <p:nvPr/>
        </p:nvSpPr>
        <p:spPr>
          <a:xfrm flipH="false" flipV="false" rot="0">
            <a:off x="10376218" y="8836091"/>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3" id="23"/>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4" id="24"/>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5" id="25"/>
          <p:cNvSpPr/>
          <p:nvPr/>
        </p:nvSpPr>
        <p:spPr>
          <a:xfrm flipH="false" flipV="false" rot="0">
            <a:off x="13173010" y="8502716"/>
            <a:ext cx="2665215" cy="2040101"/>
          </a:xfrm>
          <a:custGeom>
            <a:avLst/>
            <a:gdLst/>
            <a:ahLst/>
            <a:cxnLst/>
            <a:rect r="r" b="b" t="t" l="l"/>
            <a:pathLst>
              <a:path h="2040101" w="2665215">
                <a:moveTo>
                  <a:pt x="0" y="0"/>
                </a:moveTo>
                <a:lnTo>
                  <a:pt x="2665215" y="0"/>
                </a:lnTo>
                <a:lnTo>
                  <a:pt x="2665215" y="2040101"/>
                </a:lnTo>
                <a:lnTo>
                  <a:pt x="0" y="20401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6" id="26"/>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7" id="27"/>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8" id="28"/>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9" id="29"/>
          <p:cNvSpPr txBox="true"/>
          <p:nvPr/>
        </p:nvSpPr>
        <p:spPr>
          <a:xfrm rot="0">
            <a:off x="3216693" y="995186"/>
            <a:ext cx="11999462" cy="924543"/>
          </a:xfrm>
          <a:prstGeom prst="rect">
            <a:avLst/>
          </a:prstGeom>
        </p:spPr>
        <p:txBody>
          <a:bodyPr anchor="t" rtlCol="false" tIns="0" lIns="0" bIns="0" rIns="0">
            <a:spAutoFit/>
          </a:bodyPr>
          <a:lstStyle/>
          <a:p>
            <a:pPr algn="ctr">
              <a:lnSpc>
                <a:spcPts val="7443"/>
              </a:lnSpc>
            </a:pPr>
            <a:r>
              <a:rPr lang="en-US" sz="5316">
                <a:solidFill>
                  <a:srgbClr val="FFB9B9"/>
                </a:solidFill>
                <a:latin typeface="Bernoru"/>
                <a:ea typeface="Bernoru"/>
                <a:cs typeface="Bernoru"/>
                <a:sym typeface="Bernoru"/>
              </a:rPr>
              <a:t>Phương pháp, kỹ thuật áp dụng</a:t>
            </a:r>
          </a:p>
        </p:txBody>
      </p:sp>
      <p:sp>
        <p:nvSpPr>
          <p:cNvPr name="TextBox 30" id="30"/>
          <p:cNvSpPr txBox="true"/>
          <p:nvPr/>
        </p:nvSpPr>
        <p:spPr>
          <a:xfrm rot="0">
            <a:off x="3008466" y="2869660"/>
            <a:ext cx="12415916" cy="5559425"/>
          </a:xfrm>
          <a:prstGeom prst="rect">
            <a:avLst/>
          </a:prstGeom>
        </p:spPr>
        <p:txBody>
          <a:bodyPr anchor="t" rtlCol="false" tIns="0" lIns="0" bIns="0" rIns="0">
            <a:spAutoFit/>
          </a:bodyPr>
          <a:lstStyle/>
          <a:p>
            <a:pPr algn="l">
              <a:lnSpc>
                <a:spcPts val="4900"/>
              </a:lnSpc>
            </a:pPr>
            <a:r>
              <a:rPr lang="en-US" sz="3500" b="true">
                <a:solidFill>
                  <a:srgbClr val="863434"/>
                </a:solidFill>
                <a:latin typeface="Glacial Indifference Bold"/>
                <a:ea typeface="Glacial Indifference Bold"/>
                <a:cs typeface="Glacial Indifference Bold"/>
                <a:sym typeface="Glacial Indifference Bold"/>
              </a:rPr>
              <a:t>2. Mô hình học máy</a:t>
            </a:r>
          </a:p>
          <a:p>
            <a:pPr algn="l" marL="755651" indent="-377825" lvl="1">
              <a:lnSpc>
                <a:spcPts val="4900"/>
              </a:lnSpc>
              <a:buFont typeface="Arial"/>
              <a:buChar char="•"/>
            </a:pPr>
            <a:r>
              <a:rPr lang="en-US" b="true" sz="3500">
                <a:solidFill>
                  <a:srgbClr val="863434"/>
                </a:solidFill>
                <a:latin typeface="Glacial Indifference Bold"/>
                <a:ea typeface="Glacial Indifference Bold"/>
                <a:cs typeface="Glacial Indifference Bold"/>
                <a:sym typeface="Glacial Indifference Bold"/>
              </a:rPr>
              <a:t>Random Forest: </a:t>
            </a:r>
            <a:r>
              <a:rPr lang="en-US" sz="3500">
                <a:solidFill>
                  <a:srgbClr val="863434"/>
                </a:solidFill>
                <a:latin typeface="Glacial Indifference"/>
                <a:ea typeface="Glacial Indifference"/>
                <a:cs typeface="Glacial Indifference"/>
                <a:sym typeface="Glacial Indifference"/>
              </a:rPr>
              <a:t>Sử dụng nhiều cây quyết định để giảm sai số, phù hợp với dữ liệu lớn.</a:t>
            </a:r>
          </a:p>
          <a:p>
            <a:pPr algn="l" marL="755651" indent="-377825" lvl="1">
              <a:lnSpc>
                <a:spcPts val="4900"/>
              </a:lnSpc>
              <a:buFont typeface="Arial"/>
              <a:buChar char="•"/>
            </a:pPr>
            <a:r>
              <a:rPr lang="en-US" b="true" sz="3500">
                <a:solidFill>
                  <a:srgbClr val="863434"/>
                </a:solidFill>
                <a:latin typeface="Glacial Indifference Bold"/>
                <a:ea typeface="Glacial Indifference Bold"/>
                <a:cs typeface="Glacial Indifference Bold"/>
                <a:sym typeface="Glacial Indifference Bold"/>
              </a:rPr>
              <a:t>XGBoost: </a:t>
            </a:r>
            <a:r>
              <a:rPr lang="en-US" sz="3500">
                <a:solidFill>
                  <a:srgbClr val="863434"/>
                </a:solidFill>
                <a:latin typeface="Glacial Indifference"/>
                <a:ea typeface="Glacial Indifference"/>
                <a:cs typeface="Glacial Indifference"/>
                <a:sym typeface="Glacial Indifference"/>
              </a:rPr>
              <a:t>Thuật toán boosting tối ưu hóa sai số, hiệu quả với dữ liệu phức tạp.</a:t>
            </a:r>
          </a:p>
          <a:p>
            <a:pPr algn="l" marL="755651" indent="-377825" lvl="1">
              <a:lnSpc>
                <a:spcPts val="4900"/>
              </a:lnSpc>
              <a:buFont typeface="Arial"/>
              <a:buChar char="•"/>
            </a:pPr>
            <a:r>
              <a:rPr lang="en-US" b="true" sz="3500">
                <a:solidFill>
                  <a:srgbClr val="863434"/>
                </a:solidFill>
                <a:latin typeface="Glacial Indifference Bold"/>
                <a:ea typeface="Glacial Indifference Bold"/>
                <a:cs typeface="Glacial Indifference Bold"/>
                <a:sym typeface="Glacial Indifference Bold"/>
              </a:rPr>
              <a:t>CatBoost: </a:t>
            </a:r>
            <a:r>
              <a:rPr lang="en-US" sz="3500">
                <a:solidFill>
                  <a:srgbClr val="863434"/>
                </a:solidFill>
                <a:latin typeface="Glacial Indifference"/>
                <a:ea typeface="Glacial Indifference"/>
                <a:cs typeface="Glacial Indifference"/>
                <a:sym typeface="Glacial Indifference"/>
              </a:rPr>
              <a:t>Boosting cải tiến cho dữ liệu có nhiều đặc trưng phân loại, giảm overfitting.</a:t>
            </a:r>
          </a:p>
          <a:p>
            <a:pPr algn="l">
              <a:lnSpc>
                <a:spcPts val="4900"/>
              </a:lnSpc>
            </a:pPr>
          </a:p>
          <a:p>
            <a:pPr algn="l">
              <a:lnSpc>
                <a:spcPts val="4900"/>
              </a:lnSpc>
            </a:pP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682374"/>
            <a:ext cx="638944" cy="636620"/>
          </a:xfrm>
          <a:custGeom>
            <a:avLst/>
            <a:gdLst/>
            <a:ahLst/>
            <a:cxnLst/>
            <a:rect r="r" b="b" t="t" l="l"/>
            <a:pathLst>
              <a:path h="636620" w="638944">
                <a:moveTo>
                  <a:pt x="0" y="0"/>
                </a:moveTo>
                <a:lnTo>
                  <a:pt x="638944" y="0"/>
                </a:lnTo>
                <a:lnTo>
                  <a:pt x="638944" y="636621"/>
                </a:lnTo>
                <a:lnTo>
                  <a:pt x="0" y="63662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2273298" y="2275901"/>
            <a:ext cx="14098889" cy="6724783"/>
            <a:chOff x="0" y="0"/>
            <a:chExt cx="18798519" cy="8966377"/>
          </a:xfrm>
        </p:grpSpPr>
        <p:grpSp>
          <p:nvGrpSpPr>
            <p:cNvPr name="Group 14" id="14"/>
            <p:cNvGrpSpPr/>
            <p:nvPr/>
          </p:nvGrpSpPr>
          <p:grpSpPr>
            <a:xfrm rot="0">
              <a:off x="813722" y="122573"/>
              <a:ext cx="17984797" cy="8843805"/>
              <a:chOff x="0" y="0"/>
              <a:chExt cx="3171041" cy="1559321"/>
            </a:xfrm>
          </p:grpSpPr>
          <p:sp>
            <p:nvSpPr>
              <p:cNvPr name="Freeform 15" id="15"/>
              <p:cNvSpPr/>
              <p:nvPr/>
            </p:nvSpPr>
            <p:spPr>
              <a:xfrm flipH="false" flipV="false" rot="0">
                <a:off x="0" y="0"/>
                <a:ext cx="3171041" cy="1559321"/>
              </a:xfrm>
              <a:custGeom>
                <a:avLst/>
                <a:gdLst/>
                <a:ahLst/>
                <a:cxnLst/>
                <a:rect r="r" b="b" t="t" l="l"/>
                <a:pathLst>
                  <a:path h="1559321" w="3171041">
                    <a:moveTo>
                      <a:pt x="32794" y="0"/>
                    </a:moveTo>
                    <a:lnTo>
                      <a:pt x="3138247" y="0"/>
                    </a:lnTo>
                    <a:cubicBezTo>
                      <a:pt x="3156359" y="0"/>
                      <a:pt x="3171041" y="14682"/>
                      <a:pt x="3171041" y="32794"/>
                    </a:cubicBezTo>
                    <a:lnTo>
                      <a:pt x="3171041" y="1526527"/>
                    </a:lnTo>
                    <a:cubicBezTo>
                      <a:pt x="3171041" y="1544638"/>
                      <a:pt x="3156359" y="1559321"/>
                      <a:pt x="3138247" y="1559321"/>
                    </a:cubicBezTo>
                    <a:lnTo>
                      <a:pt x="32794" y="1559321"/>
                    </a:lnTo>
                    <a:cubicBezTo>
                      <a:pt x="14682" y="1559321"/>
                      <a:pt x="0" y="1544638"/>
                      <a:pt x="0" y="1526527"/>
                    </a:cubicBezTo>
                    <a:lnTo>
                      <a:pt x="0" y="32794"/>
                    </a:lnTo>
                    <a:cubicBezTo>
                      <a:pt x="0" y="14682"/>
                      <a:pt x="14682" y="0"/>
                      <a:pt x="32794" y="0"/>
                    </a:cubicBezTo>
                    <a:close/>
                  </a:path>
                </a:pathLst>
              </a:custGeom>
              <a:solidFill>
                <a:srgbClr val="863434"/>
              </a:solidFill>
            </p:spPr>
          </p:sp>
          <p:sp>
            <p:nvSpPr>
              <p:cNvPr name="TextBox 16" id="16"/>
              <p:cNvSpPr txBox="true"/>
              <p:nvPr/>
            </p:nvSpPr>
            <p:spPr>
              <a:xfrm>
                <a:off x="0" y="-38100"/>
                <a:ext cx="3171041" cy="1597421"/>
              </a:xfrm>
              <a:prstGeom prst="rect">
                <a:avLst/>
              </a:prstGeom>
            </p:spPr>
            <p:txBody>
              <a:bodyPr anchor="ctr" rtlCol="false" tIns="50800" lIns="50800" bIns="50800" rIns="50800"/>
              <a:lstStyle/>
              <a:p>
                <a:pPr algn="ctr">
                  <a:lnSpc>
                    <a:spcPts val="2660"/>
                  </a:lnSpc>
                  <a:spcBef>
                    <a:spcPct val="0"/>
                  </a:spcBef>
                </a:pPr>
              </a:p>
            </p:txBody>
          </p:sp>
        </p:grpSp>
        <p:grpSp>
          <p:nvGrpSpPr>
            <p:cNvPr name="Group 17" id="17"/>
            <p:cNvGrpSpPr/>
            <p:nvPr/>
          </p:nvGrpSpPr>
          <p:grpSpPr>
            <a:xfrm rot="0">
              <a:off x="0" y="0"/>
              <a:ext cx="18319470" cy="8633775"/>
              <a:chOff x="0" y="0"/>
              <a:chExt cx="3230050" cy="1522289"/>
            </a:xfrm>
          </p:grpSpPr>
          <p:sp>
            <p:nvSpPr>
              <p:cNvPr name="Freeform 18" id="18"/>
              <p:cNvSpPr/>
              <p:nvPr/>
            </p:nvSpPr>
            <p:spPr>
              <a:xfrm flipH="false" flipV="false" rot="0">
                <a:off x="0" y="0"/>
                <a:ext cx="3230050" cy="1522289"/>
              </a:xfrm>
              <a:custGeom>
                <a:avLst/>
                <a:gdLst/>
                <a:ahLst/>
                <a:cxnLst/>
                <a:rect r="r" b="b" t="t" l="l"/>
                <a:pathLst>
                  <a:path h="1522289" w="3230050">
                    <a:moveTo>
                      <a:pt x="32195" y="0"/>
                    </a:moveTo>
                    <a:lnTo>
                      <a:pt x="3197855" y="0"/>
                    </a:lnTo>
                    <a:cubicBezTo>
                      <a:pt x="3206393" y="0"/>
                      <a:pt x="3214582" y="3392"/>
                      <a:pt x="3220620" y="9430"/>
                    </a:cubicBezTo>
                    <a:cubicBezTo>
                      <a:pt x="3226658" y="15467"/>
                      <a:pt x="3230050" y="23656"/>
                      <a:pt x="3230050" y="32195"/>
                    </a:cubicBezTo>
                    <a:lnTo>
                      <a:pt x="3230050" y="1490094"/>
                    </a:lnTo>
                    <a:cubicBezTo>
                      <a:pt x="3230050" y="1507875"/>
                      <a:pt x="3215636" y="1522289"/>
                      <a:pt x="3197855" y="1522289"/>
                    </a:cubicBezTo>
                    <a:lnTo>
                      <a:pt x="32195" y="1522289"/>
                    </a:lnTo>
                    <a:cubicBezTo>
                      <a:pt x="23656" y="1522289"/>
                      <a:pt x="15467" y="1518897"/>
                      <a:pt x="9430" y="1512859"/>
                    </a:cubicBezTo>
                    <a:cubicBezTo>
                      <a:pt x="3392" y="1506821"/>
                      <a:pt x="0" y="1498633"/>
                      <a:pt x="0" y="1490094"/>
                    </a:cubicBezTo>
                    <a:lnTo>
                      <a:pt x="0" y="32195"/>
                    </a:lnTo>
                    <a:cubicBezTo>
                      <a:pt x="0" y="14414"/>
                      <a:pt x="14414" y="0"/>
                      <a:pt x="32195" y="0"/>
                    </a:cubicBezTo>
                    <a:close/>
                  </a:path>
                </a:pathLst>
              </a:custGeom>
              <a:solidFill>
                <a:srgbClr val="F4D7EF"/>
              </a:solidFill>
            </p:spPr>
          </p:sp>
          <p:sp>
            <p:nvSpPr>
              <p:cNvPr name="TextBox 19" id="19"/>
              <p:cNvSpPr txBox="true"/>
              <p:nvPr/>
            </p:nvSpPr>
            <p:spPr>
              <a:xfrm>
                <a:off x="0" y="-38100"/>
                <a:ext cx="3230050" cy="1560389"/>
              </a:xfrm>
              <a:prstGeom prst="rect">
                <a:avLst/>
              </a:prstGeom>
            </p:spPr>
            <p:txBody>
              <a:bodyPr anchor="ctr" rtlCol="false" tIns="50800" lIns="50800" bIns="50800" rIns="50800"/>
              <a:lstStyle/>
              <a:p>
                <a:pPr algn="ctr">
                  <a:lnSpc>
                    <a:spcPts val="2660"/>
                  </a:lnSpc>
                  <a:spcBef>
                    <a:spcPct val="0"/>
                  </a:spcBef>
                </a:pPr>
              </a:p>
            </p:txBody>
          </p:sp>
        </p:grpSp>
      </p:grpSp>
      <p:sp>
        <p:nvSpPr>
          <p:cNvPr name="Freeform 20" id="20"/>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1" id="21"/>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2" id="22"/>
          <p:cNvSpPr/>
          <p:nvPr/>
        </p:nvSpPr>
        <p:spPr>
          <a:xfrm flipH="false" flipV="false" rot="0">
            <a:off x="10376218" y="8836091"/>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3" id="23"/>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4" id="24"/>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5" id="25"/>
          <p:cNvSpPr/>
          <p:nvPr/>
        </p:nvSpPr>
        <p:spPr>
          <a:xfrm flipH="false" flipV="false" rot="0">
            <a:off x="13173010" y="8502716"/>
            <a:ext cx="2665215" cy="2040101"/>
          </a:xfrm>
          <a:custGeom>
            <a:avLst/>
            <a:gdLst/>
            <a:ahLst/>
            <a:cxnLst/>
            <a:rect r="r" b="b" t="t" l="l"/>
            <a:pathLst>
              <a:path h="2040101" w="2665215">
                <a:moveTo>
                  <a:pt x="0" y="0"/>
                </a:moveTo>
                <a:lnTo>
                  <a:pt x="2665215" y="0"/>
                </a:lnTo>
                <a:lnTo>
                  <a:pt x="2665215" y="2040101"/>
                </a:lnTo>
                <a:lnTo>
                  <a:pt x="0" y="20401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6" id="26"/>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7" id="27"/>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8" id="28"/>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9" id="29"/>
          <p:cNvSpPr txBox="true"/>
          <p:nvPr/>
        </p:nvSpPr>
        <p:spPr>
          <a:xfrm rot="0">
            <a:off x="3216693" y="995186"/>
            <a:ext cx="11999462" cy="924543"/>
          </a:xfrm>
          <a:prstGeom prst="rect">
            <a:avLst/>
          </a:prstGeom>
        </p:spPr>
        <p:txBody>
          <a:bodyPr anchor="t" rtlCol="false" tIns="0" lIns="0" bIns="0" rIns="0">
            <a:spAutoFit/>
          </a:bodyPr>
          <a:lstStyle/>
          <a:p>
            <a:pPr algn="ctr">
              <a:lnSpc>
                <a:spcPts val="7443"/>
              </a:lnSpc>
            </a:pPr>
            <a:r>
              <a:rPr lang="en-US" sz="5316">
                <a:solidFill>
                  <a:srgbClr val="FFB9B9"/>
                </a:solidFill>
                <a:latin typeface="Bernoru"/>
                <a:ea typeface="Bernoru"/>
                <a:cs typeface="Bernoru"/>
                <a:sym typeface="Bernoru"/>
              </a:rPr>
              <a:t>Phương pháp, kỹ thuật áp dụng</a:t>
            </a:r>
          </a:p>
        </p:txBody>
      </p:sp>
      <p:sp>
        <p:nvSpPr>
          <p:cNvPr name="TextBox 30" id="30"/>
          <p:cNvSpPr txBox="true"/>
          <p:nvPr/>
        </p:nvSpPr>
        <p:spPr>
          <a:xfrm rot="0">
            <a:off x="3119187" y="2792982"/>
            <a:ext cx="12415916" cy="3702050"/>
          </a:xfrm>
          <a:prstGeom prst="rect">
            <a:avLst/>
          </a:prstGeom>
        </p:spPr>
        <p:txBody>
          <a:bodyPr anchor="t" rtlCol="false" tIns="0" lIns="0" bIns="0" rIns="0">
            <a:spAutoFit/>
          </a:bodyPr>
          <a:lstStyle/>
          <a:p>
            <a:pPr algn="l">
              <a:lnSpc>
                <a:spcPts val="4900"/>
              </a:lnSpc>
            </a:pPr>
            <a:r>
              <a:rPr lang="en-US" sz="3500" b="true">
                <a:solidFill>
                  <a:srgbClr val="863434"/>
                </a:solidFill>
                <a:latin typeface="Glacial Indifference Bold"/>
                <a:ea typeface="Glacial Indifference Bold"/>
                <a:cs typeface="Glacial Indifference Bold"/>
                <a:sym typeface="Glacial Indifference Bold"/>
              </a:rPr>
              <a:t>3. Mô hình học sâu</a:t>
            </a:r>
          </a:p>
          <a:p>
            <a:pPr algn="l" marL="755651" indent="-377825" lvl="1">
              <a:lnSpc>
                <a:spcPts val="4900"/>
              </a:lnSpc>
              <a:buFont typeface="Arial"/>
              <a:buChar char="•"/>
            </a:pPr>
            <a:r>
              <a:rPr lang="en-US" b="true" sz="3500">
                <a:solidFill>
                  <a:srgbClr val="863434"/>
                </a:solidFill>
                <a:latin typeface="Glacial Indifference Bold"/>
                <a:ea typeface="Glacial Indifference Bold"/>
                <a:cs typeface="Glacial Indifference Bold"/>
                <a:sym typeface="Glacial Indifference Bold"/>
              </a:rPr>
              <a:t>LSTM</a:t>
            </a:r>
            <a:r>
              <a:rPr lang="en-US" b="true" sz="3500">
                <a:solidFill>
                  <a:srgbClr val="863434"/>
                </a:solidFill>
                <a:latin typeface="Glacial Indifference Bold"/>
                <a:ea typeface="Glacial Indifference Bold"/>
                <a:cs typeface="Glacial Indifference Bold"/>
                <a:sym typeface="Glacial Indifference Bold"/>
              </a:rPr>
              <a:t>: </a:t>
            </a:r>
            <a:r>
              <a:rPr lang="en-US" sz="3500">
                <a:solidFill>
                  <a:srgbClr val="863434"/>
                </a:solidFill>
                <a:latin typeface="Glacial Indifference"/>
                <a:ea typeface="Glacial Indifference"/>
                <a:cs typeface="Glacial Indifference"/>
                <a:sym typeface="Glacial Indifference"/>
              </a:rPr>
              <a:t>Mạng nơ-ron hồi tiếp có khả năng ghi nhớ thông tin dài hạn, phù hợp với chuỗi thời gian.</a:t>
            </a:r>
          </a:p>
          <a:p>
            <a:pPr algn="l">
              <a:lnSpc>
                <a:spcPts val="4900"/>
              </a:lnSpc>
            </a:pPr>
          </a:p>
          <a:p>
            <a:pPr algn="l">
              <a:lnSpc>
                <a:spcPts val="4900"/>
              </a:lnSpc>
            </a:pPr>
          </a:p>
          <a:p>
            <a:pPr algn="l">
              <a:lnSpc>
                <a:spcPts val="4900"/>
              </a:lnSpc>
            </a:pP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D8F3FF"/>
        </a:solidFill>
      </p:bgPr>
    </p:bg>
    <p:spTree>
      <p:nvGrpSpPr>
        <p:cNvPr id="1" name=""/>
        <p:cNvGrpSpPr/>
        <p:nvPr/>
      </p:nvGrpSpPr>
      <p:grpSpPr>
        <a:xfrm>
          <a:off x="0" y="0"/>
          <a:ext cx="0" cy="0"/>
          <a:chOff x="0" y="0"/>
          <a:chExt cx="0" cy="0"/>
        </a:xfrm>
      </p:grpSpPr>
      <p:sp>
        <p:nvSpPr>
          <p:cNvPr name="Freeform 2" id="2"/>
          <p:cNvSpPr/>
          <p:nvPr/>
        </p:nvSpPr>
        <p:spPr>
          <a:xfrm flipH="false" flipV="false" rot="0">
            <a:off x="-801280" y="8767349"/>
            <a:ext cx="2890103" cy="2128167"/>
          </a:xfrm>
          <a:custGeom>
            <a:avLst/>
            <a:gdLst/>
            <a:ahLst/>
            <a:cxnLst/>
            <a:rect r="r" b="b" t="t" l="l"/>
            <a:pathLst>
              <a:path h="2128167" w="2890103">
                <a:moveTo>
                  <a:pt x="0" y="0"/>
                </a:moveTo>
                <a:lnTo>
                  <a:pt x="2890103" y="0"/>
                </a:lnTo>
                <a:lnTo>
                  <a:pt x="2890103" y="2128167"/>
                </a:lnTo>
                <a:lnTo>
                  <a:pt x="0" y="21281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959440" y="8767349"/>
            <a:ext cx="2319495" cy="1775468"/>
          </a:xfrm>
          <a:custGeom>
            <a:avLst/>
            <a:gdLst/>
            <a:ahLst/>
            <a:cxnLst/>
            <a:rect r="r" b="b" t="t" l="l"/>
            <a:pathLst>
              <a:path h="1775468" w="2319495">
                <a:moveTo>
                  <a:pt x="0" y="0"/>
                </a:moveTo>
                <a:lnTo>
                  <a:pt x="2319495" y="0"/>
                </a:lnTo>
                <a:lnTo>
                  <a:pt x="2319495" y="1775468"/>
                </a:lnTo>
                <a:lnTo>
                  <a:pt x="0" y="17754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876269" y="-1217512"/>
            <a:ext cx="4766063" cy="2435025"/>
          </a:xfrm>
          <a:custGeom>
            <a:avLst/>
            <a:gdLst/>
            <a:ahLst/>
            <a:cxnLst/>
            <a:rect r="r" b="b" t="t" l="l"/>
            <a:pathLst>
              <a:path h="2435025" w="4766063">
                <a:moveTo>
                  <a:pt x="0" y="0"/>
                </a:moveTo>
                <a:lnTo>
                  <a:pt x="4766062" y="0"/>
                </a:lnTo>
                <a:lnTo>
                  <a:pt x="4766062" y="2435024"/>
                </a:lnTo>
                <a:lnTo>
                  <a:pt x="0" y="24350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3173010" y="-240039"/>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014445" y="-870210"/>
            <a:ext cx="4086290" cy="2087723"/>
          </a:xfrm>
          <a:custGeom>
            <a:avLst/>
            <a:gdLst/>
            <a:ahLst/>
            <a:cxnLst/>
            <a:rect r="r" b="b" t="t" l="l"/>
            <a:pathLst>
              <a:path h="2087723" w="4086290">
                <a:moveTo>
                  <a:pt x="0" y="0"/>
                </a:moveTo>
                <a:lnTo>
                  <a:pt x="4086290" y="0"/>
                </a:lnTo>
                <a:lnTo>
                  <a:pt x="4086290" y="2087722"/>
                </a:lnTo>
                <a:lnTo>
                  <a:pt x="0" y="20877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596846" y="-512903"/>
            <a:ext cx="4086290" cy="2087723"/>
          </a:xfrm>
          <a:custGeom>
            <a:avLst/>
            <a:gdLst/>
            <a:ahLst/>
            <a:cxnLst/>
            <a:rect r="r" b="b" t="t" l="l"/>
            <a:pathLst>
              <a:path h="2087723" w="4086290">
                <a:moveTo>
                  <a:pt x="0" y="0"/>
                </a:moveTo>
                <a:lnTo>
                  <a:pt x="4086290" y="0"/>
                </a:lnTo>
                <a:lnTo>
                  <a:pt x="4086290" y="2087723"/>
                </a:lnTo>
                <a:lnTo>
                  <a:pt x="0" y="208772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4278935" y="-870210"/>
            <a:ext cx="3032933" cy="1549553"/>
          </a:xfrm>
          <a:custGeom>
            <a:avLst/>
            <a:gdLst/>
            <a:ahLst/>
            <a:cxnLst/>
            <a:rect r="r" b="b" t="t" l="l"/>
            <a:pathLst>
              <a:path h="1549553" w="3032933">
                <a:moveTo>
                  <a:pt x="0" y="0"/>
                </a:moveTo>
                <a:lnTo>
                  <a:pt x="3032932" y="0"/>
                </a:lnTo>
                <a:lnTo>
                  <a:pt x="3032932" y="1549552"/>
                </a:lnTo>
                <a:lnTo>
                  <a:pt x="0" y="15495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3654267" y="9148016"/>
            <a:ext cx="5055817" cy="1833503"/>
          </a:xfrm>
          <a:custGeom>
            <a:avLst/>
            <a:gdLst/>
            <a:ahLst/>
            <a:cxnLst/>
            <a:rect r="r" b="b" t="t" l="l"/>
            <a:pathLst>
              <a:path h="1833503" w="5055817">
                <a:moveTo>
                  <a:pt x="0" y="0"/>
                </a:moveTo>
                <a:lnTo>
                  <a:pt x="5055817" y="0"/>
                </a:lnTo>
                <a:lnTo>
                  <a:pt x="5055817" y="1833504"/>
                </a:lnTo>
                <a:lnTo>
                  <a:pt x="0" y="183350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854015" y="1847684"/>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3654267" y="8449039"/>
            <a:ext cx="638944" cy="636620"/>
          </a:xfrm>
          <a:custGeom>
            <a:avLst/>
            <a:gdLst/>
            <a:ahLst/>
            <a:cxnLst/>
            <a:rect r="r" b="b" t="t" l="l"/>
            <a:pathLst>
              <a:path h="636620" w="638944">
                <a:moveTo>
                  <a:pt x="0" y="0"/>
                </a:moveTo>
                <a:lnTo>
                  <a:pt x="638944" y="0"/>
                </a:lnTo>
                <a:lnTo>
                  <a:pt x="638944" y="636620"/>
                </a:lnTo>
                <a:lnTo>
                  <a:pt x="0" y="6366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2" id="12"/>
          <p:cNvSpPr/>
          <p:nvPr/>
        </p:nvSpPr>
        <p:spPr>
          <a:xfrm flipH="false" flipV="false" rot="2699999">
            <a:off x="764025" y="8141822"/>
            <a:ext cx="535412" cy="511075"/>
          </a:xfrm>
          <a:custGeom>
            <a:avLst/>
            <a:gdLst/>
            <a:ahLst/>
            <a:cxnLst/>
            <a:rect r="r" b="b" t="t" l="l"/>
            <a:pathLst>
              <a:path h="511075" w="535412">
                <a:moveTo>
                  <a:pt x="0" y="0"/>
                </a:moveTo>
                <a:lnTo>
                  <a:pt x="535412" y="0"/>
                </a:lnTo>
                <a:lnTo>
                  <a:pt x="535412" y="511075"/>
                </a:lnTo>
                <a:lnTo>
                  <a:pt x="0" y="511075"/>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13" id="13"/>
          <p:cNvGrpSpPr/>
          <p:nvPr/>
        </p:nvGrpSpPr>
        <p:grpSpPr>
          <a:xfrm rot="0">
            <a:off x="3138587" y="2195457"/>
            <a:ext cx="12315626" cy="6143338"/>
            <a:chOff x="0" y="0"/>
            <a:chExt cx="3243622" cy="1617999"/>
          </a:xfrm>
        </p:grpSpPr>
        <p:sp>
          <p:nvSpPr>
            <p:cNvPr name="Freeform 14" id="14"/>
            <p:cNvSpPr/>
            <p:nvPr/>
          </p:nvSpPr>
          <p:spPr>
            <a:xfrm flipH="false" flipV="false" rot="0">
              <a:off x="0" y="0"/>
              <a:ext cx="3243622" cy="1617999"/>
            </a:xfrm>
            <a:custGeom>
              <a:avLst/>
              <a:gdLst/>
              <a:ahLst/>
              <a:cxnLst/>
              <a:rect r="r" b="b" t="t" l="l"/>
              <a:pathLst>
                <a:path h="1617999" w="3243622">
                  <a:moveTo>
                    <a:pt x="32060" y="0"/>
                  </a:moveTo>
                  <a:lnTo>
                    <a:pt x="3211562" y="0"/>
                  </a:lnTo>
                  <a:cubicBezTo>
                    <a:pt x="3220064" y="0"/>
                    <a:pt x="3228219" y="3378"/>
                    <a:pt x="3234231" y="9390"/>
                  </a:cubicBezTo>
                  <a:cubicBezTo>
                    <a:pt x="3240244" y="15403"/>
                    <a:pt x="3243622" y="23557"/>
                    <a:pt x="3243622" y="32060"/>
                  </a:cubicBezTo>
                  <a:lnTo>
                    <a:pt x="3243622" y="1585939"/>
                  </a:lnTo>
                  <a:cubicBezTo>
                    <a:pt x="3243622" y="1603645"/>
                    <a:pt x="3229268" y="1617999"/>
                    <a:pt x="3211562" y="1617999"/>
                  </a:cubicBezTo>
                  <a:lnTo>
                    <a:pt x="32060" y="1617999"/>
                  </a:lnTo>
                  <a:cubicBezTo>
                    <a:pt x="14354" y="1617999"/>
                    <a:pt x="0" y="1603645"/>
                    <a:pt x="0" y="1585939"/>
                  </a:cubicBezTo>
                  <a:lnTo>
                    <a:pt x="0" y="32060"/>
                  </a:lnTo>
                  <a:cubicBezTo>
                    <a:pt x="0" y="14354"/>
                    <a:pt x="14354" y="0"/>
                    <a:pt x="32060" y="0"/>
                  </a:cubicBezTo>
                  <a:close/>
                </a:path>
              </a:pathLst>
            </a:custGeom>
            <a:solidFill>
              <a:srgbClr val="863434"/>
            </a:solidFill>
          </p:spPr>
        </p:sp>
        <p:sp>
          <p:nvSpPr>
            <p:cNvPr name="TextBox 15" id="15"/>
            <p:cNvSpPr txBox="true"/>
            <p:nvPr/>
          </p:nvSpPr>
          <p:spPr>
            <a:xfrm>
              <a:off x="0" y="-38100"/>
              <a:ext cx="3243622" cy="1656099"/>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2986187" y="2043057"/>
            <a:ext cx="12315626" cy="6143338"/>
            <a:chOff x="0" y="0"/>
            <a:chExt cx="3243622" cy="1617999"/>
          </a:xfrm>
        </p:grpSpPr>
        <p:sp>
          <p:nvSpPr>
            <p:cNvPr name="Freeform 17" id="17"/>
            <p:cNvSpPr/>
            <p:nvPr/>
          </p:nvSpPr>
          <p:spPr>
            <a:xfrm flipH="false" flipV="false" rot="0">
              <a:off x="0" y="0"/>
              <a:ext cx="3243622" cy="1617999"/>
            </a:xfrm>
            <a:custGeom>
              <a:avLst/>
              <a:gdLst/>
              <a:ahLst/>
              <a:cxnLst/>
              <a:rect r="r" b="b" t="t" l="l"/>
              <a:pathLst>
                <a:path h="1617999" w="3243622">
                  <a:moveTo>
                    <a:pt x="32060" y="0"/>
                  </a:moveTo>
                  <a:lnTo>
                    <a:pt x="3211562" y="0"/>
                  </a:lnTo>
                  <a:cubicBezTo>
                    <a:pt x="3220064" y="0"/>
                    <a:pt x="3228219" y="3378"/>
                    <a:pt x="3234231" y="9390"/>
                  </a:cubicBezTo>
                  <a:cubicBezTo>
                    <a:pt x="3240244" y="15403"/>
                    <a:pt x="3243622" y="23557"/>
                    <a:pt x="3243622" y="32060"/>
                  </a:cubicBezTo>
                  <a:lnTo>
                    <a:pt x="3243622" y="1585939"/>
                  </a:lnTo>
                  <a:cubicBezTo>
                    <a:pt x="3243622" y="1603645"/>
                    <a:pt x="3229268" y="1617999"/>
                    <a:pt x="3211562" y="1617999"/>
                  </a:cubicBezTo>
                  <a:lnTo>
                    <a:pt x="32060" y="1617999"/>
                  </a:lnTo>
                  <a:cubicBezTo>
                    <a:pt x="14354" y="1617999"/>
                    <a:pt x="0" y="1603645"/>
                    <a:pt x="0" y="1585939"/>
                  </a:cubicBezTo>
                  <a:lnTo>
                    <a:pt x="0" y="32060"/>
                  </a:lnTo>
                  <a:cubicBezTo>
                    <a:pt x="0" y="14354"/>
                    <a:pt x="14354" y="0"/>
                    <a:pt x="32060" y="0"/>
                  </a:cubicBezTo>
                  <a:close/>
                </a:path>
              </a:pathLst>
            </a:custGeom>
            <a:solidFill>
              <a:srgbClr val="F4D7EF"/>
            </a:solidFill>
          </p:spPr>
        </p:sp>
        <p:sp>
          <p:nvSpPr>
            <p:cNvPr name="TextBox 18" id="18"/>
            <p:cNvSpPr txBox="true"/>
            <p:nvPr/>
          </p:nvSpPr>
          <p:spPr>
            <a:xfrm>
              <a:off x="0" y="-38100"/>
              <a:ext cx="3243622" cy="1656099"/>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279302">
            <a:off x="17446073" y="8053096"/>
            <a:ext cx="577600" cy="321356"/>
          </a:xfrm>
          <a:custGeom>
            <a:avLst/>
            <a:gdLst/>
            <a:ahLst/>
            <a:cxnLst/>
            <a:rect r="r" b="b" t="t" l="l"/>
            <a:pathLst>
              <a:path h="321356" w="577600">
                <a:moveTo>
                  <a:pt x="0" y="0"/>
                </a:moveTo>
                <a:lnTo>
                  <a:pt x="577600" y="0"/>
                </a:lnTo>
                <a:lnTo>
                  <a:pt x="577600" y="321356"/>
                </a:lnTo>
                <a:lnTo>
                  <a:pt x="0" y="321356"/>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0" id="20"/>
          <p:cNvSpPr/>
          <p:nvPr/>
        </p:nvSpPr>
        <p:spPr>
          <a:xfrm flipH="false" flipV="false" rot="0">
            <a:off x="15894029" y="7804292"/>
            <a:ext cx="537577" cy="577476"/>
          </a:xfrm>
          <a:custGeom>
            <a:avLst/>
            <a:gdLst/>
            <a:ahLst/>
            <a:cxnLst/>
            <a:rect r="r" b="b" t="t" l="l"/>
            <a:pathLst>
              <a:path h="577476" w="537577">
                <a:moveTo>
                  <a:pt x="0" y="0"/>
                </a:moveTo>
                <a:lnTo>
                  <a:pt x="537578" y="0"/>
                </a:lnTo>
                <a:lnTo>
                  <a:pt x="537578" y="577476"/>
                </a:lnTo>
                <a:lnTo>
                  <a:pt x="0" y="57747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1" id="21"/>
          <p:cNvSpPr/>
          <p:nvPr/>
        </p:nvSpPr>
        <p:spPr>
          <a:xfrm flipH="false" flipV="false" rot="0">
            <a:off x="10376218" y="8502716"/>
            <a:ext cx="1186499" cy="2392800"/>
          </a:xfrm>
          <a:custGeom>
            <a:avLst/>
            <a:gdLst/>
            <a:ahLst/>
            <a:cxnLst/>
            <a:rect r="r" b="b" t="t" l="l"/>
            <a:pathLst>
              <a:path h="2392800" w="1186499">
                <a:moveTo>
                  <a:pt x="0" y="0"/>
                </a:moveTo>
                <a:lnTo>
                  <a:pt x="1186499" y="0"/>
                </a:lnTo>
                <a:lnTo>
                  <a:pt x="1186499" y="2392800"/>
                </a:lnTo>
                <a:lnTo>
                  <a:pt x="0" y="239280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2" id="22"/>
          <p:cNvSpPr/>
          <p:nvPr/>
        </p:nvSpPr>
        <p:spPr>
          <a:xfrm flipH="false" flipV="false" rot="0">
            <a:off x="11562717" y="9148016"/>
            <a:ext cx="1713492" cy="1833503"/>
          </a:xfrm>
          <a:custGeom>
            <a:avLst/>
            <a:gdLst/>
            <a:ahLst/>
            <a:cxnLst/>
            <a:rect r="r" b="b" t="t" l="l"/>
            <a:pathLst>
              <a:path h="1833503" w="1713492">
                <a:moveTo>
                  <a:pt x="0" y="0"/>
                </a:moveTo>
                <a:lnTo>
                  <a:pt x="1713492" y="0"/>
                </a:lnTo>
                <a:lnTo>
                  <a:pt x="1713492" y="1833504"/>
                </a:lnTo>
                <a:lnTo>
                  <a:pt x="0" y="1833504"/>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3" id="23"/>
          <p:cNvSpPr/>
          <p:nvPr/>
        </p:nvSpPr>
        <p:spPr>
          <a:xfrm flipH="false" flipV="false" rot="0">
            <a:off x="7698948" y="9000684"/>
            <a:ext cx="2890103" cy="2128167"/>
          </a:xfrm>
          <a:custGeom>
            <a:avLst/>
            <a:gdLst/>
            <a:ahLst/>
            <a:cxnLst/>
            <a:rect r="r" b="b" t="t" l="l"/>
            <a:pathLst>
              <a:path h="2128167" w="2890103">
                <a:moveTo>
                  <a:pt x="0" y="0"/>
                </a:moveTo>
                <a:lnTo>
                  <a:pt x="2890104" y="0"/>
                </a:lnTo>
                <a:lnTo>
                  <a:pt x="2890104" y="2128168"/>
                </a:lnTo>
                <a:lnTo>
                  <a:pt x="0" y="21281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4" id="24"/>
          <p:cNvSpPr/>
          <p:nvPr/>
        </p:nvSpPr>
        <p:spPr>
          <a:xfrm flipH="false" flipV="false" rot="0">
            <a:off x="13173010" y="8381768"/>
            <a:ext cx="2823223" cy="2161049"/>
          </a:xfrm>
          <a:custGeom>
            <a:avLst/>
            <a:gdLst/>
            <a:ahLst/>
            <a:cxnLst/>
            <a:rect r="r" b="b" t="t" l="l"/>
            <a:pathLst>
              <a:path h="2161049" w="2823223">
                <a:moveTo>
                  <a:pt x="0" y="0"/>
                </a:moveTo>
                <a:lnTo>
                  <a:pt x="2823223" y="0"/>
                </a:lnTo>
                <a:lnTo>
                  <a:pt x="2823223" y="2161049"/>
                </a:lnTo>
                <a:lnTo>
                  <a:pt x="0" y="216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5" id="25"/>
          <p:cNvSpPr/>
          <p:nvPr/>
        </p:nvSpPr>
        <p:spPr>
          <a:xfrm flipH="false" flipV="false" rot="0">
            <a:off x="16621528" y="8381804"/>
            <a:ext cx="2192793" cy="2634625"/>
          </a:xfrm>
          <a:custGeom>
            <a:avLst/>
            <a:gdLst/>
            <a:ahLst/>
            <a:cxnLst/>
            <a:rect r="r" b="b" t="t" l="l"/>
            <a:pathLst>
              <a:path h="2634625" w="2192793">
                <a:moveTo>
                  <a:pt x="0" y="0"/>
                </a:moveTo>
                <a:lnTo>
                  <a:pt x="2192794" y="0"/>
                </a:lnTo>
                <a:lnTo>
                  <a:pt x="2192794" y="2634624"/>
                </a:lnTo>
                <a:lnTo>
                  <a:pt x="0" y="26346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26" id="26"/>
          <p:cNvSpPr/>
          <p:nvPr/>
        </p:nvSpPr>
        <p:spPr>
          <a:xfrm flipH="false" flipV="false" rot="0">
            <a:off x="15448209" y="8590782"/>
            <a:ext cx="1173319" cy="2304734"/>
          </a:xfrm>
          <a:custGeom>
            <a:avLst/>
            <a:gdLst/>
            <a:ahLst/>
            <a:cxnLst/>
            <a:rect r="r" b="b" t="t" l="l"/>
            <a:pathLst>
              <a:path h="2304734" w="1173319">
                <a:moveTo>
                  <a:pt x="0" y="0"/>
                </a:moveTo>
                <a:lnTo>
                  <a:pt x="1173319" y="0"/>
                </a:lnTo>
                <a:lnTo>
                  <a:pt x="1173319" y="2304734"/>
                </a:lnTo>
                <a:lnTo>
                  <a:pt x="0" y="23047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27" id="27"/>
          <p:cNvSpPr/>
          <p:nvPr/>
        </p:nvSpPr>
        <p:spPr>
          <a:xfrm flipH="false" flipV="false" rot="0">
            <a:off x="17433985" y="4681691"/>
            <a:ext cx="1708029" cy="1813341"/>
          </a:xfrm>
          <a:custGeom>
            <a:avLst/>
            <a:gdLst/>
            <a:ahLst/>
            <a:cxnLst/>
            <a:rect r="r" b="b" t="t" l="l"/>
            <a:pathLst>
              <a:path h="1813341" w="1708029">
                <a:moveTo>
                  <a:pt x="0" y="0"/>
                </a:moveTo>
                <a:lnTo>
                  <a:pt x="1708030" y="0"/>
                </a:lnTo>
                <a:lnTo>
                  <a:pt x="1708030" y="1813341"/>
                </a:lnTo>
                <a:lnTo>
                  <a:pt x="0" y="181334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pic>
        <p:nvPicPr>
          <p:cNvPr name="Picture 28" id="28"/>
          <p:cNvPicPr>
            <a:picLocks noChangeAspect="true"/>
          </p:cNvPicPr>
          <p:nvPr/>
        </p:nvPicPr>
        <p:blipFill>
          <a:blip r:embed="rId28"/>
          <a:srcRect l="0" t="0" r="0" b="0"/>
          <a:stretch>
            <a:fillRect/>
          </a:stretch>
        </p:blipFill>
        <p:spPr>
          <a:xfrm flipH="false" flipV="false" rot="0">
            <a:off x="7904323" y="5536559"/>
            <a:ext cx="2199364" cy="2649836"/>
          </a:xfrm>
          <a:prstGeom prst="rect">
            <a:avLst/>
          </a:prstGeom>
        </p:spPr>
      </p:pic>
      <p:sp>
        <p:nvSpPr>
          <p:cNvPr name="TextBox 29" id="29"/>
          <p:cNvSpPr txBox="true"/>
          <p:nvPr/>
        </p:nvSpPr>
        <p:spPr>
          <a:xfrm rot="0">
            <a:off x="4502587" y="2702185"/>
            <a:ext cx="9282825" cy="1717654"/>
          </a:xfrm>
          <a:prstGeom prst="rect">
            <a:avLst/>
          </a:prstGeom>
        </p:spPr>
        <p:txBody>
          <a:bodyPr anchor="t" rtlCol="false" tIns="0" lIns="0" bIns="0" rIns="0">
            <a:spAutoFit/>
          </a:bodyPr>
          <a:lstStyle/>
          <a:p>
            <a:pPr algn="ctr">
              <a:lnSpc>
                <a:spcPts val="13999"/>
              </a:lnSpc>
            </a:pPr>
            <a:r>
              <a:rPr lang="en-US" sz="9999">
                <a:solidFill>
                  <a:srgbClr val="FFB9B9"/>
                </a:solidFill>
                <a:latin typeface="Bernoru"/>
                <a:ea typeface="Bernoru"/>
                <a:cs typeface="Bernoru"/>
                <a:sym typeface="Bernoru"/>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DAGh2wqQImE</dc:identifier>
  <dcterms:modified xsi:type="dcterms:W3CDTF">2011-08-01T06:04:30Z</dcterms:modified>
  <cp:revision>1</cp:revision>
  <dc:title>Blue and Pink Pastel Cute Playful Project Presentation</dc:title>
</cp:coreProperties>
</file>