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imes New Roman Bold" charset="1" panose="02030802070405020303"/>
      <p:regular r:id="rId17"/>
    </p:embeddedFont>
    <p:embeddedFont>
      <p:font typeface="Times New Roman" charset="1" panose="02030502070405020303"/>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gif"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1696580">
            <a:off x="13678368" y="7787722"/>
            <a:ext cx="861481" cy="479297"/>
          </a:xfrm>
          <a:custGeom>
            <a:avLst/>
            <a:gdLst/>
            <a:ahLst/>
            <a:cxnLst/>
            <a:rect r="r" b="b" t="t" l="l"/>
            <a:pathLst>
              <a:path h="479297" w="861481">
                <a:moveTo>
                  <a:pt x="0" y="0"/>
                </a:moveTo>
                <a:lnTo>
                  <a:pt x="861481" y="0"/>
                </a:lnTo>
                <a:lnTo>
                  <a:pt x="861481" y="479297"/>
                </a:lnTo>
                <a:lnTo>
                  <a:pt x="0" y="47929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5894029" y="7612266"/>
            <a:ext cx="716336" cy="769502"/>
          </a:xfrm>
          <a:custGeom>
            <a:avLst/>
            <a:gdLst/>
            <a:ahLst/>
            <a:cxnLst/>
            <a:rect r="r" b="b" t="t" l="l"/>
            <a:pathLst>
              <a:path h="769502" w="716336">
                <a:moveTo>
                  <a:pt x="0" y="0"/>
                </a:moveTo>
                <a:lnTo>
                  <a:pt x="716337" y="0"/>
                </a:lnTo>
                <a:lnTo>
                  <a:pt x="716337" y="769502"/>
                </a:lnTo>
                <a:lnTo>
                  <a:pt x="0" y="769502"/>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7" id="17"/>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21" id="21"/>
          <p:cNvSpPr txBox="true"/>
          <p:nvPr/>
        </p:nvSpPr>
        <p:spPr>
          <a:xfrm rot="0">
            <a:off x="3540939" y="3854443"/>
            <a:ext cx="10900975" cy="101270302"/>
          </a:xfrm>
          <a:prstGeom prst="rect">
            <a:avLst/>
          </a:prstGeom>
        </p:spPr>
        <p:txBody>
          <a:bodyPr anchor="t" rtlCol="false" tIns="0" lIns="0" bIns="0" rIns="0">
            <a:spAutoFit/>
          </a:bodyPr>
          <a:lstStyle/>
          <a:p>
            <a:pPr algn="ctr">
              <a:lnSpc>
                <a:spcPts val="6272"/>
              </a:lnSpc>
            </a:pPr>
            <a:r>
              <a:rPr lang="en-US" sz="4480" b="true">
                <a:solidFill>
                  <a:srgbClr val="863434"/>
                </a:solidFill>
                <a:latin typeface="Times New Roman Bold"/>
                <a:ea typeface="Times New Roman Bold"/>
                <a:cs typeface="Times New Roman Bold"/>
                <a:sym typeface="Times New Roman Bold"/>
              </a:rPr>
              <a:t>GVHD: Dương Phi Long</a:t>
            </a:r>
          </a:p>
          <a:p>
            <a:pPr algn="ctr">
              <a:lnSpc>
                <a:spcPts val="6272"/>
              </a:lnSpc>
            </a:pPr>
            <a:r>
              <a:rPr lang="en-US" sz="4480">
                <a:solidFill>
                  <a:srgbClr val="863434"/>
                </a:solidFill>
                <a:latin typeface="Times New Roman"/>
                <a:ea typeface="Times New Roman"/>
                <a:cs typeface="Times New Roman"/>
                <a:sym typeface="Times New Roman"/>
              </a:rPr>
              <a:t>Vũ Minh Đức             - 22520277</a:t>
            </a:r>
          </a:p>
          <a:p>
            <a:pPr algn="ctr">
              <a:lnSpc>
                <a:spcPts val="6272"/>
              </a:lnSpc>
            </a:pPr>
            <a:r>
              <a:rPr lang="en-US" sz="4480">
                <a:solidFill>
                  <a:srgbClr val="863434"/>
                </a:solidFill>
                <a:latin typeface="Times New Roman"/>
                <a:ea typeface="Times New Roman"/>
                <a:cs typeface="Times New Roman"/>
                <a:sym typeface="Times New Roman"/>
              </a:rPr>
              <a:t>Nguyễn Thị Thuý Vy - 22521706</a:t>
            </a:r>
          </a:p>
          <a:p>
            <a:pPr algn="ctr">
              <a:lnSpc>
                <a:spcPts val="6272"/>
              </a:lnSpc>
            </a:pPr>
            <a:r>
              <a:rPr lang="en-US" sz="4480">
                <a:solidFill>
                  <a:srgbClr val="863434"/>
                </a:solidFill>
                <a:latin typeface="Times New Roman"/>
                <a:ea typeface="Times New Roman"/>
                <a:cs typeface="Times New Roman"/>
                <a:sym typeface="Times New Roman"/>
              </a:rPr>
              <a:t>Phan Thị Tường Vi    - 22521658</a:t>
            </a:r>
          </a:p>
          <a:p>
            <a:pPr algn="ctr">
              <a:lnSpc>
                <a:spcPts val="6272"/>
              </a:lnSpc>
            </a:pPr>
            <a:r>
              <a:rPr lang="en-US" sz="4480">
                <a:solidFill>
                  <a:srgbClr val="863434"/>
                </a:solidFill>
                <a:latin typeface="Times New Roman"/>
                <a:ea typeface="Times New Roman"/>
                <a:cs typeface="Times New Roman"/>
                <a:sym typeface="Times New Roman"/>
              </a:rPr>
              <a:t> Lê Thị Ánh Xuân       - 22521714</a:t>
            </a: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 </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ĐĂNG KÝ NHÓM</a:t>
            </a: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THỜI GIAN BÁO CÁO</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DS LOP - Điểm BT LT</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DS LỚP</a:t>
            </a: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Phan Thị Tường Vi</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 </a:t>
            </a: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 </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ĐĂNG KÝ NHÓM</a:t>
            </a: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THỜI GIAN BÁO CÁO</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DS LOP - Điểm BT LT</a:t>
            </a: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DS LỚP</a:t>
            </a:r>
          </a:p>
          <a:p>
            <a:pPr algn="ctr">
              <a:lnSpc>
                <a:spcPts val="6272"/>
              </a:lnSpc>
            </a:pPr>
          </a:p>
          <a:p>
            <a:pPr algn="ctr">
              <a:lnSpc>
                <a:spcPts val="6272"/>
              </a:lnSpc>
            </a:pPr>
          </a:p>
          <a:p>
            <a:pPr algn="ctr">
              <a:lnSpc>
                <a:spcPts val="6272"/>
              </a:lnSpc>
            </a:pPr>
          </a:p>
          <a:p>
            <a:pPr algn="ctr">
              <a:lnSpc>
                <a:spcPts val="6272"/>
              </a:lnSpc>
            </a:pPr>
          </a:p>
          <a:p>
            <a:pPr algn="ctr">
              <a:lnSpc>
                <a:spcPts val="6272"/>
              </a:lnSpc>
            </a:pPr>
          </a:p>
          <a:p>
            <a:pPr algn="ctr">
              <a:lnSpc>
                <a:spcPts val="6272"/>
              </a:lnSpc>
            </a:pPr>
            <a:r>
              <a:rPr lang="en-US" sz="4480" b="true">
                <a:solidFill>
                  <a:srgbClr val="863434"/>
                </a:solidFill>
                <a:latin typeface="Times New Roman Bold"/>
                <a:ea typeface="Times New Roman Bold"/>
                <a:cs typeface="Times New Roman Bold"/>
                <a:sym typeface="Times New Roman Bold"/>
              </a:rPr>
              <a:t>Phan Thị Tường Vi</a:t>
            </a:r>
          </a:p>
          <a:p>
            <a:pPr algn="ctr">
              <a:lnSpc>
                <a:spcPts val="6272"/>
              </a:lnSpc>
            </a:pPr>
          </a:p>
          <a:p>
            <a:pPr algn="ctr">
              <a:lnSpc>
                <a:spcPts val="6272"/>
              </a:lnSpc>
            </a:pPr>
          </a:p>
          <a:p>
            <a:pPr algn="ctr">
              <a:lnSpc>
                <a:spcPts val="6272"/>
              </a:lnSpc>
            </a:pPr>
          </a:p>
          <a:p>
            <a:pPr algn="ctr">
              <a:lnSpc>
                <a:spcPts val="6272"/>
              </a:lnSpc>
            </a:pPr>
          </a:p>
        </p:txBody>
      </p:sp>
      <p:sp>
        <p:nvSpPr>
          <p:cNvPr name="TextBox 22" id="22"/>
          <p:cNvSpPr txBox="true"/>
          <p:nvPr/>
        </p:nvSpPr>
        <p:spPr>
          <a:xfrm rot="0">
            <a:off x="1401720" y="1320765"/>
            <a:ext cx="16029128" cy="2156363"/>
          </a:xfrm>
          <a:prstGeom prst="rect">
            <a:avLst/>
          </a:prstGeom>
        </p:spPr>
        <p:txBody>
          <a:bodyPr anchor="t" rtlCol="false" tIns="0" lIns="0" bIns="0" rIns="0">
            <a:spAutoFit/>
          </a:bodyPr>
          <a:lstStyle/>
          <a:p>
            <a:pPr algn="ctr">
              <a:lnSpc>
                <a:spcPts val="8199"/>
              </a:lnSpc>
            </a:pPr>
            <a:r>
              <a:rPr lang="en-US" sz="5856">
                <a:solidFill>
                  <a:srgbClr val="FFB9B9"/>
                </a:solidFill>
                <a:latin typeface="Times New Roman"/>
                <a:ea typeface="Times New Roman"/>
                <a:cs typeface="Times New Roman"/>
                <a:sym typeface="Times New Roman"/>
              </a:rPr>
              <a:t>Áp dụng Phân tích dữ liệu kinh doanh vào việc Dự báo giá dầu trong tương lai</a:t>
            </a:r>
          </a:p>
        </p:txBody>
      </p:sp>
      <p:sp>
        <p:nvSpPr>
          <p:cNvPr name="Freeform 23" id="23"/>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1696580">
            <a:off x="13890740" y="7987349"/>
            <a:ext cx="598825" cy="333164"/>
          </a:xfrm>
          <a:custGeom>
            <a:avLst/>
            <a:gdLst/>
            <a:ahLst/>
            <a:cxnLst/>
            <a:rect r="r" b="b" t="t" l="l"/>
            <a:pathLst>
              <a:path h="333164" w="598825">
                <a:moveTo>
                  <a:pt x="0" y="0"/>
                </a:moveTo>
                <a:lnTo>
                  <a:pt x="598825" y="0"/>
                </a:lnTo>
                <a:lnTo>
                  <a:pt x="598825" y="333164"/>
                </a:lnTo>
                <a:lnTo>
                  <a:pt x="0" y="33316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5894029" y="7865388"/>
            <a:ext cx="480703" cy="516380"/>
          </a:xfrm>
          <a:custGeom>
            <a:avLst/>
            <a:gdLst/>
            <a:ahLst/>
            <a:cxnLst/>
            <a:rect r="r" b="b" t="t" l="l"/>
            <a:pathLst>
              <a:path h="516380" w="480703">
                <a:moveTo>
                  <a:pt x="0" y="0"/>
                </a:moveTo>
                <a:lnTo>
                  <a:pt x="480704" y="0"/>
                </a:lnTo>
                <a:lnTo>
                  <a:pt x="480704" y="516380"/>
                </a:lnTo>
                <a:lnTo>
                  <a:pt x="0" y="51638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6" id="16"/>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17" id="17"/>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0" id="20"/>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1" id="21"/>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2" id="22"/>
          <p:cNvSpPr txBox="true"/>
          <p:nvPr/>
        </p:nvSpPr>
        <p:spPr>
          <a:xfrm rot="0">
            <a:off x="6774676" y="1218947"/>
            <a:ext cx="4738648"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Nội dung</a:t>
            </a:r>
          </a:p>
        </p:txBody>
      </p:sp>
      <p:sp>
        <p:nvSpPr>
          <p:cNvPr name="TextBox 23" id="23"/>
          <p:cNvSpPr txBox="true"/>
          <p:nvPr/>
        </p:nvSpPr>
        <p:spPr>
          <a:xfrm rot="0">
            <a:off x="2653838" y="2984718"/>
            <a:ext cx="14349750" cy="4114949"/>
          </a:xfrm>
          <a:prstGeom prst="rect">
            <a:avLst/>
          </a:prstGeom>
        </p:spPr>
        <p:txBody>
          <a:bodyPr anchor="t" rtlCol="false" tIns="0" lIns="0" bIns="0" rIns="0">
            <a:spAutoFit/>
          </a:bodyPr>
          <a:lstStyle/>
          <a:p>
            <a:pPr algn="l" marL="863598" indent="-431799" lvl="1">
              <a:lnSpc>
                <a:spcPts val="5599"/>
              </a:lnSpc>
              <a:buFont typeface="Arial"/>
              <a:buChar char="•"/>
            </a:pPr>
            <a:r>
              <a:rPr lang="en-US" sz="3999">
                <a:solidFill>
                  <a:srgbClr val="863434"/>
                </a:solidFill>
                <a:latin typeface="Times New Roman"/>
                <a:ea typeface="Times New Roman"/>
                <a:cs typeface="Times New Roman"/>
                <a:sym typeface="Times New Roman"/>
              </a:rPr>
              <a:t>Giới thiệu về đề tài</a:t>
            </a:r>
          </a:p>
          <a:p>
            <a:pPr algn="l" marL="863598" indent="-431799" lvl="1">
              <a:lnSpc>
                <a:spcPts val="5599"/>
              </a:lnSpc>
              <a:buFont typeface="Arial"/>
              <a:buChar char="•"/>
            </a:pPr>
            <a:r>
              <a:rPr lang="en-US" sz="3999">
                <a:solidFill>
                  <a:srgbClr val="863434"/>
                </a:solidFill>
                <a:latin typeface="Times New Roman"/>
                <a:ea typeface="Times New Roman"/>
                <a:cs typeface="Times New Roman"/>
                <a:sym typeface="Times New Roman"/>
              </a:rPr>
              <a:t>Giới thiệu chung về bộ dữ liệu</a:t>
            </a:r>
          </a:p>
          <a:p>
            <a:pPr algn="l" marL="863598" indent="-431799" lvl="1">
              <a:lnSpc>
                <a:spcPts val="5599"/>
              </a:lnSpc>
              <a:buFont typeface="Arial"/>
              <a:buChar char="•"/>
            </a:pPr>
            <a:r>
              <a:rPr lang="en-US" sz="3999">
                <a:solidFill>
                  <a:srgbClr val="863434"/>
                </a:solidFill>
                <a:latin typeface="Times New Roman"/>
                <a:ea typeface="Times New Roman"/>
                <a:cs typeface="Times New Roman"/>
                <a:sym typeface="Times New Roman"/>
              </a:rPr>
              <a:t>Giới thiệu chung về bài toán, các hướng tiếp cận</a:t>
            </a:r>
          </a:p>
          <a:p>
            <a:pPr algn="l" marL="863598" indent="-431799" lvl="1">
              <a:lnSpc>
                <a:spcPts val="5599"/>
              </a:lnSpc>
              <a:buFont typeface="Arial"/>
              <a:buChar char="•"/>
            </a:pPr>
            <a:r>
              <a:rPr lang="en-US" sz="3999">
                <a:solidFill>
                  <a:srgbClr val="863434"/>
                </a:solidFill>
                <a:latin typeface="Times New Roman"/>
                <a:ea typeface="Times New Roman"/>
                <a:cs typeface="Times New Roman"/>
                <a:sym typeface="Times New Roman"/>
              </a:rPr>
              <a:t>Giới thiệu chung về phương pháp, kỹ thuật áp dụng</a:t>
            </a:r>
          </a:p>
          <a:p>
            <a:pPr algn="l">
              <a:lnSpc>
                <a:spcPts val="4900"/>
              </a:lnSpc>
            </a:pPr>
          </a:p>
          <a:p>
            <a:pPr algn="l">
              <a:lnSpc>
                <a:spcPts val="4900"/>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3138587" y="2195457"/>
            <a:ext cx="12315626" cy="6143338"/>
            <a:chOff x="0" y="0"/>
            <a:chExt cx="3243622" cy="1617999"/>
          </a:xfrm>
        </p:grpSpPr>
        <p:sp>
          <p:nvSpPr>
            <p:cNvPr name="Freeform 14" id="14"/>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863434"/>
            </a:solidFill>
          </p:spPr>
        </p:sp>
        <p:sp>
          <p:nvSpPr>
            <p:cNvPr name="TextBox 15" id="15"/>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986187" y="2043057"/>
            <a:ext cx="12315626" cy="6143338"/>
            <a:chOff x="0" y="0"/>
            <a:chExt cx="3243622" cy="1617999"/>
          </a:xfrm>
        </p:grpSpPr>
        <p:sp>
          <p:nvSpPr>
            <p:cNvPr name="Freeform 17" id="17"/>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F4D7EF"/>
            </a:solidFill>
          </p:spPr>
        </p:sp>
        <p:sp>
          <p:nvSpPr>
            <p:cNvPr name="TextBox 18" id="18"/>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2" id="22"/>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3" id="23"/>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7" id="27"/>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5496556" y="790575"/>
            <a:ext cx="7393673"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Đề tài</a:t>
            </a:r>
          </a:p>
        </p:txBody>
      </p:sp>
      <p:sp>
        <p:nvSpPr>
          <p:cNvPr name="TextBox 29" id="29"/>
          <p:cNvSpPr txBox="true"/>
          <p:nvPr/>
        </p:nvSpPr>
        <p:spPr>
          <a:xfrm rot="0">
            <a:off x="3377022" y="2539801"/>
            <a:ext cx="11632741" cy="4387850"/>
          </a:xfrm>
          <a:prstGeom prst="rect">
            <a:avLst/>
          </a:prstGeom>
        </p:spPr>
        <p:txBody>
          <a:bodyPr anchor="t" rtlCol="false" tIns="0" lIns="0" bIns="0" rIns="0">
            <a:spAutoFit/>
          </a:bodyPr>
          <a:lstStyle/>
          <a:p>
            <a:pPr algn="l">
              <a:lnSpc>
                <a:spcPts val="4900"/>
              </a:lnSpc>
            </a:pPr>
            <a:r>
              <a:rPr lang="en-US" sz="3500">
                <a:solidFill>
                  <a:srgbClr val="863434"/>
                </a:solidFill>
                <a:latin typeface="Times New Roman"/>
                <a:ea typeface="Times New Roman"/>
                <a:cs typeface="Times New Roman"/>
                <a:sym typeface="Times New Roman"/>
              </a:rPr>
              <a:t>Đề tài nghiên cứu áp dụng các kỹ thuật phân tích dữ liệu và mô hình học máy, học sâu, chuỗi thời gian để dự báo giá dầu trong tương lai. Các mô hình sẽ được thử nghiệm với các đặc trưng khác nhau (ví dụ: chỉ sử dụng giá đóng cửa, hoặc kết hợp thêm các yếu tố như giá mở cửa, giá cao nhất, giá thấp nhất,…), để xác định mô hình nào hoạt động tốt nhất trong việc dự báo biến động giá dầu.</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1149151" y="1711633"/>
            <a:ext cx="16110149" cy="7152239"/>
            <a:chOff x="0" y="0"/>
            <a:chExt cx="4243002" cy="1883717"/>
          </a:xfrm>
        </p:grpSpPr>
        <p:sp>
          <p:nvSpPr>
            <p:cNvPr name="Freeform 14" id="14"/>
            <p:cNvSpPr/>
            <p:nvPr/>
          </p:nvSpPr>
          <p:spPr>
            <a:xfrm flipH="false" flipV="false" rot="0">
              <a:off x="0" y="0"/>
              <a:ext cx="4243002" cy="1883717"/>
            </a:xfrm>
            <a:custGeom>
              <a:avLst/>
              <a:gdLst/>
              <a:ahLst/>
              <a:cxnLst/>
              <a:rect r="r" b="b" t="t" l="l"/>
              <a:pathLst>
                <a:path h="1883717" w="4243002">
                  <a:moveTo>
                    <a:pt x="24509" y="0"/>
                  </a:moveTo>
                  <a:lnTo>
                    <a:pt x="4218494" y="0"/>
                  </a:lnTo>
                  <a:cubicBezTo>
                    <a:pt x="4224994" y="0"/>
                    <a:pt x="4231227" y="2582"/>
                    <a:pt x="4235824" y="7178"/>
                  </a:cubicBezTo>
                  <a:cubicBezTo>
                    <a:pt x="4240420" y="11775"/>
                    <a:pt x="4243002" y="18009"/>
                    <a:pt x="4243002" y="24509"/>
                  </a:cubicBezTo>
                  <a:lnTo>
                    <a:pt x="4243002" y="1859209"/>
                  </a:lnTo>
                  <a:cubicBezTo>
                    <a:pt x="4243002" y="1872744"/>
                    <a:pt x="4232029" y="1883717"/>
                    <a:pt x="4218494" y="1883717"/>
                  </a:cubicBezTo>
                  <a:lnTo>
                    <a:pt x="24509" y="1883717"/>
                  </a:lnTo>
                  <a:cubicBezTo>
                    <a:pt x="18009" y="1883717"/>
                    <a:pt x="11775" y="1881135"/>
                    <a:pt x="7178" y="1876539"/>
                  </a:cubicBezTo>
                  <a:cubicBezTo>
                    <a:pt x="2582" y="1871943"/>
                    <a:pt x="0" y="1865709"/>
                    <a:pt x="0" y="1859209"/>
                  </a:cubicBezTo>
                  <a:lnTo>
                    <a:pt x="0" y="24509"/>
                  </a:lnTo>
                  <a:cubicBezTo>
                    <a:pt x="0" y="18009"/>
                    <a:pt x="2582" y="11775"/>
                    <a:pt x="7178" y="7178"/>
                  </a:cubicBezTo>
                  <a:cubicBezTo>
                    <a:pt x="11775" y="2582"/>
                    <a:pt x="18009" y="0"/>
                    <a:pt x="24509" y="0"/>
                  </a:cubicBezTo>
                  <a:close/>
                </a:path>
              </a:pathLst>
            </a:custGeom>
            <a:solidFill>
              <a:srgbClr val="F4D7EF"/>
            </a:solidFill>
          </p:spPr>
        </p:sp>
        <p:sp>
          <p:nvSpPr>
            <p:cNvPr name="TextBox 15" id="15"/>
            <p:cNvSpPr txBox="true"/>
            <p:nvPr/>
          </p:nvSpPr>
          <p:spPr>
            <a:xfrm>
              <a:off x="0" y="-76200"/>
              <a:ext cx="4243002" cy="1959917"/>
            </a:xfrm>
            <a:prstGeom prst="rect">
              <a:avLst/>
            </a:prstGeom>
          </p:spPr>
          <p:txBody>
            <a:bodyPr anchor="ctr" rtlCol="false" tIns="50800" lIns="50800" bIns="50800" rIns="50800"/>
            <a:lstStyle/>
            <a:p>
              <a:pPr algn="ctr">
                <a:lnSpc>
                  <a:spcPts val="2659"/>
                </a:lnSpc>
                <a:spcBef>
                  <a:spcPct val="0"/>
                </a:spcBef>
              </a:pPr>
            </a:p>
          </p:txBody>
        </p:sp>
      </p:grpSp>
      <p:sp>
        <p:nvSpPr>
          <p:cNvPr name="Freeform 16" id="16"/>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7" id="17"/>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8" id="18"/>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9" id="19"/>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0" id="20"/>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1" id="21"/>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3" id="23"/>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4" id="24"/>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5" id="25"/>
          <p:cNvSpPr txBox="true"/>
          <p:nvPr/>
        </p:nvSpPr>
        <p:spPr>
          <a:xfrm rot="0">
            <a:off x="5277220" y="292834"/>
            <a:ext cx="7393673"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Dataset</a:t>
            </a:r>
          </a:p>
        </p:txBody>
      </p:sp>
      <p:sp>
        <p:nvSpPr>
          <p:cNvPr name="TextBox 26" id="26"/>
          <p:cNvSpPr txBox="true"/>
          <p:nvPr/>
        </p:nvSpPr>
        <p:spPr>
          <a:xfrm rot="0">
            <a:off x="1965657" y="2220550"/>
            <a:ext cx="14655871" cy="10507310"/>
          </a:xfrm>
          <a:prstGeom prst="rect">
            <a:avLst/>
          </a:prstGeom>
        </p:spPr>
        <p:txBody>
          <a:bodyPr anchor="t" rtlCol="false" tIns="0" lIns="0" bIns="0" rIns="0">
            <a:spAutoFit/>
          </a:bodyPr>
          <a:lstStyle/>
          <a:p>
            <a:pPr algn="just">
              <a:lnSpc>
                <a:spcPts val="4620"/>
              </a:lnSpc>
            </a:pPr>
            <a:r>
              <a:rPr lang="en-US" sz="3300" b="true">
                <a:solidFill>
                  <a:srgbClr val="863434"/>
                </a:solidFill>
                <a:latin typeface="Times New Roman Bold"/>
                <a:ea typeface="Times New Roman Bold"/>
                <a:cs typeface="Times New Roman Bold"/>
                <a:sym typeface="Times New Roman Bold"/>
              </a:rPr>
              <a:t>Tên bộ dữ liệu: </a:t>
            </a:r>
            <a:r>
              <a:rPr lang="en-US" sz="3300">
                <a:solidFill>
                  <a:srgbClr val="863434"/>
                </a:solidFill>
                <a:latin typeface="Times New Roman"/>
                <a:ea typeface="Times New Roman"/>
                <a:cs typeface="Times New Roman"/>
                <a:sym typeface="Times New Roman"/>
              </a:rPr>
              <a:t>Oil, Gas &amp; Other Fuels Futures Data</a:t>
            </a:r>
          </a:p>
          <a:p>
            <a:pPr algn="just">
              <a:lnSpc>
                <a:spcPts val="4620"/>
              </a:lnSpc>
            </a:pPr>
            <a:r>
              <a:rPr lang="en-US" sz="3300" b="true">
                <a:solidFill>
                  <a:srgbClr val="863434"/>
                </a:solidFill>
                <a:latin typeface="Times New Roman Bold"/>
                <a:ea typeface="Times New Roman Bold"/>
                <a:cs typeface="Times New Roman Bold"/>
                <a:sym typeface="Times New Roman Bold"/>
              </a:rPr>
              <a:t>Cộng tác viên:</a:t>
            </a:r>
            <a:r>
              <a:rPr lang="en-US" sz="3300">
                <a:solidFill>
                  <a:srgbClr val="863434"/>
                </a:solidFill>
                <a:latin typeface="Times New Roman"/>
                <a:ea typeface="Times New Roman"/>
                <a:cs typeface="Times New Roman"/>
                <a:sym typeface="Times New Roman"/>
              </a:rPr>
              <a:t> Guillem SD</a:t>
            </a:r>
          </a:p>
          <a:p>
            <a:pPr algn="just">
              <a:lnSpc>
                <a:spcPts val="4620"/>
              </a:lnSpc>
            </a:pPr>
            <a:r>
              <a:rPr lang="en-US" sz="3300" b="true">
                <a:solidFill>
                  <a:srgbClr val="863434"/>
                </a:solidFill>
                <a:latin typeface="Times New Roman Bold"/>
                <a:ea typeface="Times New Roman Bold"/>
                <a:cs typeface="Times New Roman Bold"/>
                <a:sym typeface="Times New Roman Bold"/>
              </a:rPr>
              <a:t>Nguồn: </a:t>
            </a:r>
            <a:r>
              <a:rPr lang="en-US" sz="3300">
                <a:solidFill>
                  <a:srgbClr val="863434"/>
                </a:solidFill>
                <a:latin typeface="Times New Roman"/>
                <a:ea typeface="Times New Roman"/>
                <a:cs typeface="Times New Roman"/>
                <a:sym typeface="Times New Roman"/>
              </a:rPr>
              <a:t>Yahoo Finance</a:t>
            </a:r>
          </a:p>
          <a:p>
            <a:pPr algn="just">
              <a:lnSpc>
                <a:spcPts val="4620"/>
              </a:lnSpc>
            </a:pPr>
            <a:r>
              <a:rPr lang="en-US" sz="3300" b="true">
                <a:solidFill>
                  <a:srgbClr val="863434"/>
                </a:solidFill>
                <a:latin typeface="Times New Roman Bold"/>
                <a:ea typeface="Times New Roman Bold"/>
                <a:cs typeface="Times New Roman Bold"/>
                <a:sym typeface="Times New Roman Bold"/>
              </a:rPr>
              <a:t>Thời gian: </a:t>
            </a:r>
            <a:r>
              <a:rPr lang="en-US" sz="3300">
                <a:solidFill>
                  <a:srgbClr val="863434"/>
                </a:solidFill>
                <a:latin typeface="Times New Roman"/>
                <a:ea typeface="Times New Roman"/>
                <a:cs typeface="Times New Roman"/>
                <a:sym typeface="Times New Roman"/>
              </a:rPr>
              <a:t>23/08/2000 – 24/06/2024</a:t>
            </a:r>
          </a:p>
          <a:p>
            <a:pPr algn="just">
              <a:lnSpc>
                <a:spcPts val="4620"/>
              </a:lnSpc>
            </a:pPr>
            <a:r>
              <a:rPr lang="en-US" sz="3300">
                <a:solidFill>
                  <a:srgbClr val="863434"/>
                </a:solidFill>
                <a:latin typeface="Times New Roman"/>
                <a:ea typeface="Times New Roman"/>
                <a:cs typeface="Times New Roman"/>
                <a:sym typeface="Times New Roman"/>
              </a:rPr>
              <a:t>Bao gồm 8 cột và 28075 dòng dữ liệu.</a:t>
            </a:r>
          </a:p>
          <a:p>
            <a:pPr algn="just">
              <a:lnSpc>
                <a:spcPts val="4620"/>
              </a:lnSpc>
            </a:pPr>
            <a:r>
              <a:rPr lang="en-US" sz="3300" b="true">
                <a:solidFill>
                  <a:srgbClr val="863434"/>
                </a:solidFill>
                <a:latin typeface="Times New Roman Bold"/>
                <a:ea typeface="Times New Roman Bold"/>
                <a:cs typeface="Times New Roman Bold"/>
                <a:sym typeface="Times New Roman Bold"/>
              </a:rPr>
              <a:t>Tổng quan: </a:t>
            </a:r>
            <a:r>
              <a:rPr lang="en-US" sz="3300">
                <a:solidFill>
                  <a:srgbClr val="863434"/>
                </a:solidFill>
                <a:latin typeface="Times New Roman"/>
                <a:ea typeface="Times New Roman"/>
                <a:cs typeface="Times New Roman"/>
                <a:sym typeface="Times New Roman"/>
              </a:rPr>
              <a:t>Tập dữ liệu này cung cấp thông tin toàn diện và cập nhật mới về hợp đồng tương lai liên quan đến dầu, khí đốt và các loại nhiên liệu khác. Hợp đồng tương lai là các hợp đồng tài chính bắt buộc người mua phải mua và người bán phải bán một lượng nhiên liệu cụ thể với mức giá được xác định trước vào một ngày trong tương lai.</a:t>
            </a:r>
          </a:p>
          <a:p>
            <a:pPr algn="just">
              <a:lnSpc>
                <a:spcPts val="4620"/>
              </a:lnSpc>
            </a:pPr>
          </a:p>
          <a:p>
            <a:pPr algn="just">
              <a:lnSpc>
                <a:spcPts val="4620"/>
              </a:lnSpc>
            </a:pPr>
          </a:p>
          <a:p>
            <a:pPr algn="just">
              <a:lnSpc>
                <a:spcPts val="4620"/>
              </a:lnSpc>
            </a:pPr>
          </a:p>
          <a:p>
            <a:pPr algn="just">
              <a:lnSpc>
                <a:spcPts val="4620"/>
              </a:lnSpc>
            </a:pPr>
          </a:p>
          <a:p>
            <a:pPr algn="just">
              <a:lnSpc>
                <a:spcPts val="4620"/>
              </a:lnSpc>
            </a:pPr>
          </a:p>
          <a:p>
            <a:pPr algn="just">
              <a:lnSpc>
                <a:spcPts val="4620"/>
              </a:lnSpc>
            </a:pPr>
          </a:p>
          <a:p>
            <a:pPr algn="just">
              <a:lnSpc>
                <a:spcPts val="4620"/>
              </a:lnSpc>
            </a:pPr>
          </a:p>
          <a:p>
            <a:pPr algn="just">
              <a:lnSpc>
                <a:spcPts val="462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2536812" y="1681917"/>
            <a:ext cx="15014073" cy="7085432"/>
            <a:chOff x="0" y="0"/>
            <a:chExt cx="3954324" cy="1866122"/>
          </a:xfrm>
        </p:grpSpPr>
        <p:sp>
          <p:nvSpPr>
            <p:cNvPr name="Freeform 14" id="14"/>
            <p:cNvSpPr/>
            <p:nvPr/>
          </p:nvSpPr>
          <p:spPr>
            <a:xfrm flipH="false" flipV="false" rot="0">
              <a:off x="0" y="0"/>
              <a:ext cx="3954324" cy="1866122"/>
            </a:xfrm>
            <a:custGeom>
              <a:avLst/>
              <a:gdLst/>
              <a:ahLst/>
              <a:cxnLst/>
              <a:rect r="r" b="b" t="t" l="l"/>
              <a:pathLst>
                <a:path h="1866122" w="3954324">
                  <a:moveTo>
                    <a:pt x="26298" y="0"/>
                  </a:moveTo>
                  <a:lnTo>
                    <a:pt x="3928026" y="0"/>
                  </a:lnTo>
                  <a:cubicBezTo>
                    <a:pt x="3942550" y="0"/>
                    <a:pt x="3954324" y="11774"/>
                    <a:pt x="3954324" y="26298"/>
                  </a:cubicBezTo>
                  <a:lnTo>
                    <a:pt x="3954324" y="1839824"/>
                  </a:lnTo>
                  <a:cubicBezTo>
                    <a:pt x="3954324" y="1854348"/>
                    <a:pt x="3942550" y="1866122"/>
                    <a:pt x="3928026" y="1866122"/>
                  </a:cubicBezTo>
                  <a:lnTo>
                    <a:pt x="26298" y="1866122"/>
                  </a:lnTo>
                  <a:cubicBezTo>
                    <a:pt x="11774" y="1866122"/>
                    <a:pt x="0" y="1854348"/>
                    <a:pt x="0" y="1839824"/>
                  </a:cubicBezTo>
                  <a:lnTo>
                    <a:pt x="0" y="26298"/>
                  </a:lnTo>
                  <a:cubicBezTo>
                    <a:pt x="0" y="11774"/>
                    <a:pt x="11774" y="0"/>
                    <a:pt x="26298" y="0"/>
                  </a:cubicBezTo>
                  <a:close/>
                </a:path>
              </a:pathLst>
            </a:custGeom>
            <a:solidFill>
              <a:srgbClr val="863434"/>
            </a:solidFill>
          </p:spPr>
        </p:sp>
        <p:sp>
          <p:nvSpPr>
            <p:cNvPr name="TextBox 15" id="15"/>
            <p:cNvSpPr txBox="true"/>
            <p:nvPr/>
          </p:nvSpPr>
          <p:spPr>
            <a:xfrm>
              <a:off x="0" y="-76200"/>
              <a:ext cx="3954324" cy="1942322"/>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462416" y="1633935"/>
            <a:ext cx="15910874" cy="7019131"/>
            <a:chOff x="0" y="0"/>
            <a:chExt cx="4190518" cy="1848660"/>
          </a:xfrm>
        </p:grpSpPr>
        <p:sp>
          <p:nvSpPr>
            <p:cNvPr name="Freeform 17" id="17"/>
            <p:cNvSpPr/>
            <p:nvPr/>
          </p:nvSpPr>
          <p:spPr>
            <a:xfrm flipH="false" flipV="false" rot="0">
              <a:off x="0" y="0"/>
              <a:ext cx="4190518" cy="1848660"/>
            </a:xfrm>
            <a:custGeom>
              <a:avLst/>
              <a:gdLst/>
              <a:ahLst/>
              <a:cxnLst/>
              <a:rect r="r" b="b" t="t" l="l"/>
              <a:pathLst>
                <a:path h="1848660" w="4190518">
                  <a:moveTo>
                    <a:pt x="24816" y="0"/>
                  </a:moveTo>
                  <a:lnTo>
                    <a:pt x="4165703" y="0"/>
                  </a:lnTo>
                  <a:cubicBezTo>
                    <a:pt x="4172284" y="0"/>
                    <a:pt x="4178596" y="2614"/>
                    <a:pt x="4183250" y="7268"/>
                  </a:cubicBezTo>
                  <a:cubicBezTo>
                    <a:pt x="4187904" y="11922"/>
                    <a:pt x="4190518" y="18234"/>
                    <a:pt x="4190518" y="24816"/>
                  </a:cubicBezTo>
                  <a:lnTo>
                    <a:pt x="4190518" y="1823844"/>
                  </a:lnTo>
                  <a:cubicBezTo>
                    <a:pt x="4190518" y="1830426"/>
                    <a:pt x="4187904" y="1836738"/>
                    <a:pt x="4183250" y="1841391"/>
                  </a:cubicBezTo>
                  <a:cubicBezTo>
                    <a:pt x="4178596" y="1846045"/>
                    <a:pt x="4172284" y="1848660"/>
                    <a:pt x="4165703" y="1848660"/>
                  </a:cubicBezTo>
                  <a:lnTo>
                    <a:pt x="24816" y="1848660"/>
                  </a:lnTo>
                  <a:cubicBezTo>
                    <a:pt x="18234" y="1848660"/>
                    <a:pt x="11922" y="1846045"/>
                    <a:pt x="7268" y="1841391"/>
                  </a:cubicBezTo>
                  <a:cubicBezTo>
                    <a:pt x="2614" y="1836738"/>
                    <a:pt x="0" y="1830426"/>
                    <a:pt x="0" y="1823844"/>
                  </a:cubicBezTo>
                  <a:lnTo>
                    <a:pt x="0" y="24816"/>
                  </a:lnTo>
                  <a:cubicBezTo>
                    <a:pt x="0" y="18234"/>
                    <a:pt x="2614" y="11922"/>
                    <a:pt x="7268" y="7268"/>
                  </a:cubicBezTo>
                  <a:cubicBezTo>
                    <a:pt x="11922" y="2614"/>
                    <a:pt x="18234" y="0"/>
                    <a:pt x="24816" y="0"/>
                  </a:cubicBezTo>
                  <a:close/>
                </a:path>
              </a:pathLst>
            </a:custGeom>
            <a:solidFill>
              <a:srgbClr val="F4D7EF"/>
            </a:solidFill>
          </p:spPr>
        </p:sp>
        <p:sp>
          <p:nvSpPr>
            <p:cNvPr name="TextBox 18" id="18"/>
            <p:cNvSpPr txBox="true"/>
            <p:nvPr/>
          </p:nvSpPr>
          <p:spPr>
            <a:xfrm>
              <a:off x="0" y="-76200"/>
              <a:ext cx="4190518" cy="1924860"/>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2" id="22"/>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3" id="23"/>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7" id="27"/>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4707846" y="441217"/>
            <a:ext cx="9282825"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Dataset</a:t>
            </a:r>
          </a:p>
        </p:txBody>
      </p:sp>
      <p:sp>
        <p:nvSpPr>
          <p:cNvPr name="TextBox 29" id="29"/>
          <p:cNvSpPr txBox="true"/>
          <p:nvPr/>
        </p:nvSpPr>
        <p:spPr>
          <a:xfrm rot="0">
            <a:off x="2120138" y="1836876"/>
            <a:ext cx="15313847" cy="7248783"/>
          </a:xfrm>
          <a:prstGeom prst="rect">
            <a:avLst/>
          </a:prstGeom>
        </p:spPr>
        <p:txBody>
          <a:bodyPr anchor="t" rtlCol="false" tIns="0" lIns="0" bIns="0" rIns="0">
            <a:spAutoFit/>
          </a:bodyPr>
          <a:lstStyle/>
          <a:p>
            <a:pPr algn="l">
              <a:lnSpc>
                <a:spcPts val="4760"/>
              </a:lnSpc>
            </a:pPr>
            <a:r>
              <a:rPr lang="en-US" sz="3400" b="true">
                <a:solidFill>
                  <a:srgbClr val="863434"/>
                </a:solidFill>
                <a:latin typeface="Times New Roman Bold"/>
                <a:ea typeface="Times New Roman Bold"/>
                <a:cs typeface="Times New Roman Bold"/>
                <a:sym typeface="Times New Roman Bold"/>
              </a:rPr>
              <a:t>. Date (Ngày): </a:t>
            </a:r>
            <a:r>
              <a:rPr lang="en-US" sz="3400">
                <a:solidFill>
                  <a:srgbClr val="863434"/>
                </a:solidFill>
                <a:latin typeface="Times New Roman"/>
                <a:ea typeface="Times New Roman"/>
                <a:cs typeface="Times New Roman"/>
                <a:sym typeface="Times New Roman"/>
              </a:rPr>
              <a:t>Ngày dữ liệu được ghi nhận.</a:t>
            </a:r>
          </a:p>
          <a:p>
            <a:pPr algn="l">
              <a:lnSpc>
                <a:spcPts val="4760"/>
              </a:lnSpc>
            </a:pPr>
            <a:r>
              <a:rPr lang="en-US" sz="3400" b="true">
                <a:solidFill>
                  <a:srgbClr val="863434"/>
                </a:solidFill>
                <a:latin typeface="Times New Roman Bold"/>
                <a:ea typeface="Times New Roman Bold"/>
                <a:cs typeface="Times New Roman Bold"/>
                <a:sym typeface="Times New Roman Bold"/>
              </a:rPr>
              <a:t>· Open (Giá mở cửa): </a:t>
            </a:r>
            <a:r>
              <a:rPr lang="en-US" sz="3400">
                <a:solidFill>
                  <a:srgbClr val="863434"/>
                </a:solidFill>
                <a:latin typeface="Times New Roman"/>
                <a:ea typeface="Times New Roman"/>
                <a:cs typeface="Times New Roman"/>
                <a:sym typeface="Times New Roman"/>
              </a:rPr>
              <a:t>Giá mở cửa của thị trường trong ngày.</a:t>
            </a:r>
          </a:p>
          <a:p>
            <a:pPr algn="l">
              <a:lnSpc>
                <a:spcPts val="4760"/>
              </a:lnSpc>
            </a:pPr>
            <a:r>
              <a:rPr lang="en-US" sz="3400" b="true">
                <a:solidFill>
                  <a:srgbClr val="863434"/>
                </a:solidFill>
                <a:latin typeface="Times New Roman Bold"/>
                <a:ea typeface="Times New Roman Bold"/>
                <a:cs typeface="Times New Roman Bold"/>
                <a:sym typeface="Times New Roman Bold"/>
              </a:rPr>
              <a:t>· High (Giá cao nhất): </a:t>
            </a:r>
            <a:r>
              <a:rPr lang="en-US" sz="3400">
                <a:solidFill>
                  <a:srgbClr val="863434"/>
                </a:solidFill>
                <a:latin typeface="Times New Roman"/>
                <a:ea typeface="Times New Roman"/>
                <a:cs typeface="Times New Roman"/>
                <a:sym typeface="Times New Roman"/>
              </a:rPr>
              <a:t>Mức giá cao nhất trong phiên giao dịch.</a:t>
            </a:r>
          </a:p>
          <a:p>
            <a:pPr algn="l">
              <a:lnSpc>
                <a:spcPts val="4760"/>
              </a:lnSpc>
            </a:pPr>
            <a:r>
              <a:rPr lang="en-US" sz="3400" b="true">
                <a:solidFill>
                  <a:srgbClr val="863434"/>
                </a:solidFill>
                <a:latin typeface="Times New Roman Bold"/>
                <a:ea typeface="Times New Roman Bold"/>
                <a:cs typeface="Times New Roman Bold"/>
                <a:sym typeface="Times New Roman Bold"/>
              </a:rPr>
              <a:t>· Low (Giá thấp nhất): </a:t>
            </a:r>
            <a:r>
              <a:rPr lang="en-US" sz="3400">
                <a:solidFill>
                  <a:srgbClr val="863434"/>
                </a:solidFill>
                <a:latin typeface="Times New Roman"/>
                <a:ea typeface="Times New Roman"/>
                <a:cs typeface="Times New Roman"/>
                <a:sym typeface="Times New Roman"/>
              </a:rPr>
              <a:t>Mức giá thấp nhất trong ngày giao dịch.</a:t>
            </a:r>
          </a:p>
          <a:p>
            <a:pPr algn="l">
              <a:lnSpc>
                <a:spcPts val="4760"/>
              </a:lnSpc>
            </a:pPr>
            <a:r>
              <a:rPr lang="en-US" sz="3400" b="true">
                <a:solidFill>
                  <a:srgbClr val="863434"/>
                </a:solidFill>
                <a:latin typeface="Times New Roman Bold"/>
                <a:ea typeface="Times New Roman Bold"/>
                <a:cs typeface="Times New Roman Bold"/>
                <a:sym typeface="Times New Roman Bold"/>
              </a:rPr>
              <a:t>· Close (Giá đóng cửa): </a:t>
            </a:r>
            <a:r>
              <a:rPr lang="en-US" sz="3400">
                <a:solidFill>
                  <a:srgbClr val="863434"/>
                </a:solidFill>
                <a:latin typeface="Times New Roman"/>
                <a:ea typeface="Times New Roman"/>
                <a:cs typeface="Times New Roman"/>
                <a:sym typeface="Times New Roman"/>
              </a:rPr>
              <a:t>Giá thị trường khi kết thúc phiên giao dịch.</a:t>
            </a:r>
          </a:p>
          <a:p>
            <a:pPr algn="l">
              <a:lnSpc>
                <a:spcPts val="4760"/>
              </a:lnSpc>
            </a:pPr>
            <a:r>
              <a:rPr lang="en-US" sz="3400" b="true">
                <a:solidFill>
                  <a:srgbClr val="863434"/>
                </a:solidFill>
                <a:latin typeface="Times New Roman Bold"/>
                <a:ea typeface="Times New Roman Bold"/>
                <a:cs typeface="Times New Roman Bold"/>
                <a:sym typeface="Times New Roman Bold"/>
              </a:rPr>
              <a:t>· Volume (Khối lượng giao dịch): </a:t>
            </a:r>
            <a:r>
              <a:rPr lang="en-US" sz="3400">
                <a:solidFill>
                  <a:srgbClr val="863434"/>
                </a:solidFill>
                <a:latin typeface="Times New Roman"/>
                <a:ea typeface="Times New Roman"/>
                <a:cs typeface="Times New Roman"/>
                <a:sym typeface="Times New Roman"/>
              </a:rPr>
              <a:t>Số lượng hợp đồng được trao đổi trong phiên giao dịch.</a:t>
            </a:r>
          </a:p>
          <a:p>
            <a:pPr algn="l">
              <a:lnSpc>
                <a:spcPts val="4760"/>
              </a:lnSpc>
            </a:pPr>
            <a:r>
              <a:rPr lang="en-US" sz="3400" b="true">
                <a:solidFill>
                  <a:srgbClr val="863434"/>
                </a:solidFill>
                <a:latin typeface="Times New Roman Bold"/>
                <a:ea typeface="Times New Roman Bold"/>
                <a:cs typeface="Times New Roman Bold"/>
                <a:sym typeface="Times New Roman Bold"/>
              </a:rPr>
              <a:t>· Ticker (Mã giao dịch): </a:t>
            </a:r>
            <a:r>
              <a:rPr lang="en-US" sz="3400">
                <a:solidFill>
                  <a:srgbClr val="863434"/>
                </a:solidFill>
                <a:latin typeface="Times New Roman"/>
                <a:ea typeface="Times New Roman"/>
                <a:cs typeface="Times New Roman"/>
                <a:sym typeface="Times New Roman"/>
              </a:rPr>
              <a:t>Ký hiệu niêm yết duy nhất của hợp đồng tương lai trên thị trường.</a:t>
            </a:r>
          </a:p>
          <a:p>
            <a:pPr algn="l">
              <a:lnSpc>
                <a:spcPts val="4760"/>
              </a:lnSpc>
            </a:pPr>
            <a:r>
              <a:rPr lang="en-US" sz="3400" b="true">
                <a:solidFill>
                  <a:srgbClr val="863434"/>
                </a:solidFill>
                <a:latin typeface="Times New Roman Bold"/>
                <a:ea typeface="Times New Roman Bold"/>
                <a:cs typeface="Times New Roman Bold"/>
                <a:sym typeface="Times New Roman Bold"/>
              </a:rPr>
              <a:t>· Commodity (Hàng hóa):</a:t>
            </a:r>
            <a:r>
              <a:rPr lang="en-US" sz="3400">
                <a:solidFill>
                  <a:srgbClr val="863434"/>
                </a:solidFill>
                <a:latin typeface="Times New Roman"/>
                <a:ea typeface="Times New Roman"/>
                <a:cs typeface="Times New Roman"/>
                <a:sym typeface="Times New Roman"/>
              </a:rPr>
              <a:t> Loại nhiên liệu mà hợp đồng tương lai đề cập đến (ví dụ: dầu thô, khí tự nhiên).</a:t>
            </a:r>
          </a:p>
          <a:p>
            <a:pPr algn="l">
              <a:lnSpc>
                <a:spcPts val="476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3138587" y="2195457"/>
            <a:ext cx="12315626" cy="6143338"/>
            <a:chOff x="0" y="0"/>
            <a:chExt cx="3243622" cy="1617999"/>
          </a:xfrm>
        </p:grpSpPr>
        <p:sp>
          <p:nvSpPr>
            <p:cNvPr name="Freeform 14" id="14"/>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863434"/>
            </a:solidFill>
          </p:spPr>
        </p:sp>
        <p:sp>
          <p:nvSpPr>
            <p:cNvPr name="TextBox 15" id="15"/>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986187" y="2043057"/>
            <a:ext cx="12315626" cy="6143338"/>
            <a:chOff x="0" y="0"/>
            <a:chExt cx="3243622" cy="1617999"/>
          </a:xfrm>
        </p:grpSpPr>
        <p:sp>
          <p:nvSpPr>
            <p:cNvPr name="Freeform 17" id="17"/>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F4D7EF"/>
            </a:solidFill>
          </p:spPr>
        </p:sp>
        <p:sp>
          <p:nvSpPr>
            <p:cNvPr name="TextBox 18" id="18"/>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2" id="22"/>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3" id="23"/>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7" id="27"/>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3085005" y="728681"/>
            <a:ext cx="11875366"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Bài toán</a:t>
            </a:r>
          </a:p>
        </p:txBody>
      </p:sp>
      <p:sp>
        <p:nvSpPr>
          <p:cNvPr name="TextBox 29" id="29"/>
          <p:cNvSpPr txBox="true"/>
          <p:nvPr/>
        </p:nvSpPr>
        <p:spPr>
          <a:xfrm rot="0">
            <a:off x="3327630" y="2382638"/>
            <a:ext cx="11632741" cy="5626100"/>
          </a:xfrm>
          <a:prstGeom prst="rect">
            <a:avLst/>
          </a:prstGeom>
        </p:spPr>
        <p:txBody>
          <a:bodyPr anchor="t" rtlCol="false" tIns="0" lIns="0" bIns="0" rIns="0">
            <a:spAutoFit/>
          </a:bodyPr>
          <a:lstStyle/>
          <a:p>
            <a:pPr algn="just">
              <a:lnSpc>
                <a:spcPts val="4900"/>
              </a:lnSpc>
            </a:pPr>
            <a:r>
              <a:rPr lang="en-US" sz="3500">
                <a:solidFill>
                  <a:srgbClr val="863434"/>
                </a:solidFill>
                <a:latin typeface="Times New Roman"/>
                <a:ea typeface="Times New Roman"/>
                <a:cs typeface="Times New Roman"/>
                <a:sym typeface="Times New Roman"/>
              </a:rPr>
              <a:t>Dự báo giá tương lai của dầu, khí đốt và các loại nhiên liệu khác là một bài toán quan trọng trong lĩnh vực tài chính và năng lượng. Giá cả của các loại nhiên liệu này biến động theo thời gian do ảnh hưởng của các yếu tố kinh tế, chính trị, và môi trường. Việc dự báo chính xác giá nhiên liệu giúp các nhà đầu tư, doanh nghiệp, và cơ quan quản lý có thể đưa ra quyết định phù hợp về đầu tư, phòng ngừa rủi ro, và tối ưu hóa lợi nhuận.</a:t>
            </a:r>
          </a:p>
          <a:p>
            <a:pPr algn="just">
              <a:lnSpc>
                <a:spcPts val="49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682374"/>
            <a:ext cx="638944" cy="636620"/>
          </a:xfrm>
          <a:custGeom>
            <a:avLst/>
            <a:gdLst/>
            <a:ahLst/>
            <a:cxnLst/>
            <a:rect r="r" b="b" t="t" l="l"/>
            <a:pathLst>
              <a:path h="636620" w="638944">
                <a:moveTo>
                  <a:pt x="0" y="0"/>
                </a:moveTo>
                <a:lnTo>
                  <a:pt x="638944" y="0"/>
                </a:lnTo>
                <a:lnTo>
                  <a:pt x="638944" y="636621"/>
                </a:lnTo>
                <a:lnTo>
                  <a:pt x="0" y="6366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2730348" y="2118109"/>
            <a:ext cx="14703637" cy="6564266"/>
            <a:chOff x="0" y="0"/>
            <a:chExt cx="3872563" cy="1728860"/>
          </a:xfrm>
        </p:grpSpPr>
        <p:sp>
          <p:nvSpPr>
            <p:cNvPr name="Freeform 14" id="14"/>
            <p:cNvSpPr/>
            <p:nvPr/>
          </p:nvSpPr>
          <p:spPr>
            <a:xfrm flipH="false" flipV="false" rot="0">
              <a:off x="0" y="0"/>
              <a:ext cx="3872563" cy="1728860"/>
            </a:xfrm>
            <a:custGeom>
              <a:avLst/>
              <a:gdLst/>
              <a:ahLst/>
              <a:cxnLst/>
              <a:rect r="r" b="b" t="t" l="l"/>
              <a:pathLst>
                <a:path h="1728860" w="3872563">
                  <a:moveTo>
                    <a:pt x="26853" y="0"/>
                  </a:moveTo>
                  <a:lnTo>
                    <a:pt x="3845710" y="0"/>
                  </a:lnTo>
                  <a:cubicBezTo>
                    <a:pt x="3860540" y="0"/>
                    <a:pt x="3872563" y="12023"/>
                    <a:pt x="3872563" y="26853"/>
                  </a:cubicBezTo>
                  <a:lnTo>
                    <a:pt x="3872563" y="1702007"/>
                  </a:lnTo>
                  <a:cubicBezTo>
                    <a:pt x="3872563" y="1716838"/>
                    <a:pt x="3860540" y="1728860"/>
                    <a:pt x="3845710" y="1728860"/>
                  </a:cubicBezTo>
                  <a:lnTo>
                    <a:pt x="26853" y="1728860"/>
                  </a:lnTo>
                  <a:cubicBezTo>
                    <a:pt x="12023" y="1728860"/>
                    <a:pt x="0" y="1716838"/>
                    <a:pt x="0" y="1702007"/>
                  </a:cubicBezTo>
                  <a:lnTo>
                    <a:pt x="0" y="26853"/>
                  </a:lnTo>
                  <a:cubicBezTo>
                    <a:pt x="0" y="12023"/>
                    <a:pt x="12023" y="0"/>
                    <a:pt x="26853" y="0"/>
                  </a:cubicBezTo>
                  <a:close/>
                </a:path>
              </a:pathLst>
            </a:custGeom>
            <a:solidFill>
              <a:srgbClr val="863434"/>
            </a:solidFill>
          </p:spPr>
        </p:sp>
        <p:sp>
          <p:nvSpPr>
            <p:cNvPr name="TextBox 15" id="15"/>
            <p:cNvSpPr txBox="true"/>
            <p:nvPr/>
          </p:nvSpPr>
          <p:spPr>
            <a:xfrm>
              <a:off x="0" y="-76200"/>
              <a:ext cx="3872563" cy="1805060"/>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730348" y="2030567"/>
            <a:ext cx="14451915" cy="6420849"/>
            <a:chOff x="0" y="0"/>
            <a:chExt cx="3806266" cy="1691088"/>
          </a:xfrm>
        </p:grpSpPr>
        <p:sp>
          <p:nvSpPr>
            <p:cNvPr name="Freeform 17" id="17"/>
            <p:cNvSpPr/>
            <p:nvPr/>
          </p:nvSpPr>
          <p:spPr>
            <a:xfrm flipH="false" flipV="false" rot="0">
              <a:off x="0" y="0"/>
              <a:ext cx="3806266" cy="1691088"/>
            </a:xfrm>
            <a:custGeom>
              <a:avLst/>
              <a:gdLst/>
              <a:ahLst/>
              <a:cxnLst/>
              <a:rect r="r" b="b" t="t" l="l"/>
              <a:pathLst>
                <a:path h="1691088" w="3806266">
                  <a:moveTo>
                    <a:pt x="27321" y="0"/>
                  </a:moveTo>
                  <a:lnTo>
                    <a:pt x="3778945" y="0"/>
                  </a:lnTo>
                  <a:cubicBezTo>
                    <a:pt x="3794034" y="0"/>
                    <a:pt x="3806266" y="12232"/>
                    <a:pt x="3806266" y="27321"/>
                  </a:cubicBezTo>
                  <a:lnTo>
                    <a:pt x="3806266" y="1663767"/>
                  </a:lnTo>
                  <a:cubicBezTo>
                    <a:pt x="3806266" y="1671013"/>
                    <a:pt x="3803387" y="1677962"/>
                    <a:pt x="3798264" y="1683086"/>
                  </a:cubicBezTo>
                  <a:cubicBezTo>
                    <a:pt x="3793140" y="1688209"/>
                    <a:pt x="3786191" y="1691088"/>
                    <a:pt x="3778945" y="1691088"/>
                  </a:cubicBezTo>
                  <a:lnTo>
                    <a:pt x="27321" y="1691088"/>
                  </a:lnTo>
                  <a:cubicBezTo>
                    <a:pt x="20075" y="1691088"/>
                    <a:pt x="13126" y="1688209"/>
                    <a:pt x="8002" y="1683086"/>
                  </a:cubicBezTo>
                  <a:cubicBezTo>
                    <a:pt x="2878" y="1677962"/>
                    <a:pt x="0" y="1671013"/>
                    <a:pt x="0" y="1663767"/>
                  </a:cubicBezTo>
                  <a:lnTo>
                    <a:pt x="0" y="27321"/>
                  </a:lnTo>
                  <a:cubicBezTo>
                    <a:pt x="0" y="20075"/>
                    <a:pt x="2878" y="13126"/>
                    <a:pt x="8002" y="8002"/>
                  </a:cubicBezTo>
                  <a:cubicBezTo>
                    <a:pt x="13126" y="2878"/>
                    <a:pt x="20075" y="0"/>
                    <a:pt x="27321" y="0"/>
                  </a:cubicBezTo>
                  <a:close/>
                </a:path>
              </a:pathLst>
            </a:custGeom>
            <a:solidFill>
              <a:srgbClr val="F4D7EF"/>
            </a:solidFill>
          </p:spPr>
        </p:sp>
        <p:sp>
          <p:nvSpPr>
            <p:cNvPr name="TextBox 18" id="18"/>
            <p:cNvSpPr txBox="true"/>
            <p:nvPr/>
          </p:nvSpPr>
          <p:spPr>
            <a:xfrm>
              <a:off x="0" y="-76200"/>
              <a:ext cx="3806266" cy="1767288"/>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0376218" y="8836091"/>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2" id="22"/>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3" id="23"/>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173010" y="8502716"/>
            <a:ext cx="2665215" cy="2040101"/>
          </a:xfrm>
          <a:custGeom>
            <a:avLst/>
            <a:gdLst/>
            <a:ahLst/>
            <a:cxnLst/>
            <a:rect r="r" b="b" t="t" l="l"/>
            <a:pathLst>
              <a:path h="2040101" w="2665215">
                <a:moveTo>
                  <a:pt x="0" y="0"/>
                </a:moveTo>
                <a:lnTo>
                  <a:pt x="2665215" y="0"/>
                </a:lnTo>
                <a:lnTo>
                  <a:pt x="2665215" y="2040101"/>
                </a:lnTo>
                <a:lnTo>
                  <a:pt x="0" y="20401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7" id="27"/>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4551980" y="790575"/>
            <a:ext cx="9282825" cy="1152451"/>
          </a:xfrm>
          <a:prstGeom prst="rect">
            <a:avLst/>
          </a:prstGeom>
        </p:spPr>
        <p:txBody>
          <a:bodyPr anchor="t" rtlCol="false" tIns="0" lIns="0" bIns="0" rIns="0">
            <a:spAutoFit/>
          </a:bodyPr>
          <a:lstStyle/>
          <a:p>
            <a:pPr algn="ctr">
              <a:lnSpc>
                <a:spcPts val="8400"/>
              </a:lnSpc>
            </a:pPr>
            <a:r>
              <a:rPr lang="en-US" sz="6000">
                <a:solidFill>
                  <a:srgbClr val="FFB9B9"/>
                </a:solidFill>
                <a:latin typeface="Times New Roman"/>
                <a:ea typeface="Times New Roman"/>
                <a:cs typeface="Times New Roman"/>
                <a:sym typeface="Times New Roman"/>
              </a:rPr>
              <a:t> Hướng tiếp cận</a:t>
            </a:r>
          </a:p>
        </p:txBody>
      </p:sp>
      <p:sp>
        <p:nvSpPr>
          <p:cNvPr name="TextBox 29" id="29"/>
          <p:cNvSpPr txBox="true"/>
          <p:nvPr/>
        </p:nvSpPr>
        <p:spPr>
          <a:xfrm rot="0">
            <a:off x="2990161" y="2206192"/>
            <a:ext cx="13631368" cy="6245225"/>
          </a:xfrm>
          <a:prstGeom prst="rect">
            <a:avLst/>
          </a:prstGeom>
        </p:spPr>
        <p:txBody>
          <a:bodyPr anchor="t" rtlCol="false" tIns="0" lIns="0" bIns="0" rIns="0">
            <a:spAutoFit/>
          </a:bodyPr>
          <a:lstStyle/>
          <a:p>
            <a:pPr algn="l" marL="755651" indent="-377825" lvl="1">
              <a:lnSpc>
                <a:spcPts val="4900"/>
              </a:lnSpc>
              <a:buFont typeface="Arial"/>
              <a:buChar char="•"/>
            </a:pPr>
            <a:r>
              <a:rPr lang="en-US" sz="3500">
                <a:solidFill>
                  <a:srgbClr val="863434"/>
                </a:solidFill>
                <a:latin typeface="Times New Roman"/>
                <a:ea typeface="Times New Roman"/>
                <a:cs typeface="Times New Roman"/>
                <a:sym typeface="Times New Roman"/>
              </a:rPr>
              <a:t>Mô hình thống kê truyền thống: Các mô hình như ARIMA và Holt-Winters dựa trên các giả định về cấu trúc dữ liệu và được sử dụng rộng rãi trong phân tích chuỗi thời gian.</a:t>
            </a:r>
          </a:p>
          <a:p>
            <a:pPr algn="l" marL="755651" indent="-377825" lvl="1">
              <a:lnSpc>
                <a:spcPts val="4900"/>
              </a:lnSpc>
              <a:buFont typeface="Arial"/>
              <a:buChar char="•"/>
            </a:pPr>
            <a:r>
              <a:rPr lang="en-US" sz="3500">
                <a:solidFill>
                  <a:srgbClr val="863434"/>
                </a:solidFill>
                <a:latin typeface="Times New Roman"/>
                <a:ea typeface="Times New Roman"/>
                <a:cs typeface="Times New Roman"/>
                <a:sym typeface="Times New Roman"/>
              </a:rPr>
              <a:t>Mô hình học máy: Các thuật toán như Random Forest, XGBoost, và CatBoost khai thác mối quan hệ phức tạp trong dữ liệu để tạo ra dự báo chính xác hơn.</a:t>
            </a:r>
          </a:p>
          <a:p>
            <a:pPr algn="l" marL="755651" indent="-377825" lvl="1">
              <a:lnSpc>
                <a:spcPts val="4900"/>
              </a:lnSpc>
              <a:buFont typeface="Arial"/>
              <a:buChar char="•"/>
            </a:pPr>
            <a:r>
              <a:rPr lang="en-US" sz="3500">
                <a:solidFill>
                  <a:srgbClr val="863434"/>
                </a:solidFill>
                <a:latin typeface="Times New Roman"/>
                <a:ea typeface="Times New Roman"/>
                <a:cs typeface="Times New Roman"/>
                <a:sym typeface="Times New Roman"/>
              </a:rPr>
              <a:t>Mô hình học sâu: Mạng nơ-ron hồi tiếp LSTM có khả năng học được các mẫu dữ liệu dài hạn và được sử dụng nhiều trong các bài toán dự báo chuỗi thời gian.</a:t>
            </a:r>
          </a:p>
          <a:p>
            <a:pPr algn="l">
              <a:lnSpc>
                <a:spcPts val="49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682374"/>
            <a:ext cx="638944" cy="636620"/>
          </a:xfrm>
          <a:custGeom>
            <a:avLst/>
            <a:gdLst/>
            <a:ahLst/>
            <a:cxnLst/>
            <a:rect r="r" b="b" t="t" l="l"/>
            <a:pathLst>
              <a:path h="636620" w="638944">
                <a:moveTo>
                  <a:pt x="0" y="0"/>
                </a:moveTo>
                <a:lnTo>
                  <a:pt x="638944" y="0"/>
                </a:lnTo>
                <a:lnTo>
                  <a:pt x="638944" y="636621"/>
                </a:lnTo>
                <a:lnTo>
                  <a:pt x="0" y="6366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2273298" y="2275901"/>
            <a:ext cx="13889521" cy="6624920"/>
            <a:chOff x="0" y="0"/>
            <a:chExt cx="18519361" cy="8833227"/>
          </a:xfrm>
        </p:grpSpPr>
        <p:grpSp>
          <p:nvGrpSpPr>
            <p:cNvPr name="Group 14" id="14"/>
            <p:cNvGrpSpPr/>
            <p:nvPr/>
          </p:nvGrpSpPr>
          <p:grpSpPr>
            <a:xfrm rot="0">
              <a:off x="801638" y="120753"/>
              <a:ext cx="17717723" cy="8712474"/>
              <a:chOff x="0" y="0"/>
              <a:chExt cx="3171041" cy="1559321"/>
            </a:xfrm>
          </p:grpSpPr>
          <p:sp>
            <p:nvSpPr>
              <p:cNvPr name="Freeform 15" id="15"/>
              <p:cNvSpPr/>
              <p:nvPr/>
            </p:nvSpPr>
            <p:spPr>
              <a:xfrm flipH="false" flipV="false" rot="0">
                <a:off x="0" y="0"/>
                <a:ext cx="3171041" cy="1559321"/>
              </a:xfrm>
              <a:custGeom>
                <a:avLst/>
                <a:gdLst/>
                <a:ahLst/>
                <a:cxnLst/>
                <a:rect r="r" b="b" t="t" l="l"/>
                <a:pathLst>
                  <a:path h="1559321" w="3171041">
                    <a:moveTo>
                      <a:pt x="32794" y="0"/>
                    </a:moveTo>
                    <a:lnTo>
                      <a:pt x="3138247" y="0"/>
                    </a:lnTo>
                    <a:cubicBezTo>
                      <a:pt x="3156359" y="0"/>
                      <a:pt x="3171041" y="14682"/>
                      <a:pt x="3171041" y="32794"/>
                    </a:cubicBezTo>
                    <a:lnTo>
                      <a:pt x="3171041" y="1526527"/>
                    </a:lnTo>
                    <a:cubicBezTo>
                      <a:pt x="3171041" y="1544638"/>
                      <a:pt x="3156359" y="1559321"/>
                      <a:pt x="3138247" y="1559321"/>
                    </a:cubicBezTo>
                    <a:lnTo>
                      <a:pt x="32794" y="1559321"/>
                    </a:lnTo>
                    <a:cubicBezTo>
                      <a:pt x="14682" y="1559321"/>
                      <a:pt x="0" y="1544638"/>
                      <a:pt x="0" y="1526527"/>
                    </a:cubicBezTo>
                    <a:lnTo>
                      <a:pt x="0" y="32794"/>
                    </a:lnTo>
                    <a:cubicBezTo>
                      <a:pt x="0" y="14682"/>
                      <a:pt x="14682" y="0"/>
                      <a:pt x="32794" y="0"/>
                    </a:cubicBezTo>
                    <a:close/>
                  </a:path>
                </a:pathLst>
              </a:custGeom>
              <a:solidFill>
                <a:srgbClr val="863434"/>
              </a:solidFill>
            </p:spPr>
          </p:sp>
          <p:sp>
            <p:nvSpPr>
              <p:cNvPr name="TextBox 16" id="16"/>
              <p:cNvSpPr txBox="true"/>
              <p:nvPr/>
            </p:nvSpPr>
            <p:spPr>
              <a:xfrm>
                <a:off x="0" y="-38100"/>
                <a:ext cx="3171041" cy="1597421"/>
              </a:xfrm>
              <a:prstGeom prst="rect">
                <a:avLst/>
              </a:prstGeom>
            </p:spPr>
            <p:txBody>
              <a:bodyPr anchor="ctr" rtlCol="false" tIns="50800" lIns="50800" bIns="50800" rIns="50800"/>
              <a:lstStyle/>
              <a:p>
                <a:pPr algn="ctr">
                  <a:lnSpc>
                    <a:spcPts val="2660"/>
                  </a:lnSpc>
                  <a:spcBef>
                    <a:spcPct val="0"/>
                  </a:spcBef>
                </a:pPr>
              </a:p>
            </p:txBody>
          </p:sp>
        </p:grpSp>
        <p:grpSp>
          <p:nvGrpSpPr>
            <p:cNvPr name="Group 17" id="17"/>
            <p:cNvGrpSpPr/>
            <p:nvPr/>
          </p:nvGrpSpPr>
          <p:grpSpPr>
            <a:xfrm rot="0">
              <a:off x="0" y="0"/>
              <a:ext cx="18047426" cy="8505564"/>
              <a:chOff x="0" y="0"/>
              <a:chExt cx="3230050" cy="1522289"/>
            </a:xfrm>
          </p:grpSpPr>
          <p:sp>
            <p:nvSpPr>
              <p:cNvPr name="Freeform 18" id="18"/>
              <p:cNvSpPr/>
              <p:nvPr/>
            </p:nvSpPr>
            <p:spPr>
              <a:xfrm flipH="false" flipV="false" rot="0">
                <a:off x="0" y="0"/>
                <a:ext cx="3230050" cy="1522289"/>
              </a:xfrm>
              <a:custGeom>
                <a:avLst/>
                <a:gdLst/>
                <a:ahLst/>
                <a:cxnLst/>
                <a:rect r="r" b="b" t="t" l="l"/>
                <a:pathLst>
                  <a:path h="1522289" w="3230050">
                    <a:moveTo>
                      <a:pt x="32195" y="0"/>
                    </a:moveTo>
                    <a:lnTo>
                      <a:pt x="3197855" y="0"/>
                    </a:lnTo>
                    <a:cubicBezTo>
                      <a:pt x="3206393" y="0"/>
                      <a:pt x="3214582" y="3392"/>
                      <a:pt x="3220620" y="9430"/>
                    </a:cubicBezTo>
                    <a:cubicBezTo>
                      <a:pt x="3226658" y="15467"/>
                      <a:pt x="3230050" y="23656"/>
                      <a:pt x="3230050" y="32195"/>
                    </a:cubicBezTo>
                    <a:lnTo>
                      <a:pt x="3230050" y="1490094"/>
                    </a:lnTo>
                    <a:cubicBezTo>
                      <a:pt x="3230050" y="1507875"/>
                      <a:pt x="3215636" y="1522289"/>
                      <a:pt x="3197855" y="1522289"/>
                    </a:cubicBezTo>
                    <a:lnTo>
                      <a:pt x="32195" y="1522289"/>
                    </a:lnTo>
                    <a:cubicBezTo>
                      <a:pt x="23656" y="1522289"/>
                      <a:pt x="15467" y="1518897"/>
                      <a:pt x="9430" y="1512859"/>
                    </a:cubicBezTo>
                    <a:cubicBezTo>
                      <a:pt x="3392" y="1506821"/>
                      <a:pt x="0" y="1498633"/>
                      <a:pt x="0" y="1490094"/>
                    </a:cubicBezTo>
                    <a:lnTo>
                      <a:pt x="0" y="32195"/>
                    </a:lnTo>
                    <a:cubicBezTo>
                      <a:pt x="0" y="14414"/>
                      <a:pt x="14414" y="0"/>
                      <a:pt x="32195" y="0"/>
                    </a:cubicBezTo>
                    <a:close/>
                  </a:path>
                </a:pathLst>
              </a:custGeom>
              <a:solidFill>
                <a:srgbClr val="F4D7EF"/>
              </a:solidFill>
            </p:spPr>
          </p:sp>
          <p:sp>
            <p:nvSpPr>
              <p:cNvPr name="TextBox 19" id="19"/>
              <p:cNvSpPr txBox="true"/>
              <p:nvPr/>
            </p:nvSpPr>
            <p:spPr>
              <a:xfrm>
                <a:off x="0" y="-38100"/>
                <a:ext cx="3230050" cy="1560389"/>
              </a:xfrm>
              <a:prstGeom prst="rect">
                <a:avLst/>
              </a:prstGeom>
            </p:spPr>
            <p:txBody>
              <a:bodyPr anchor="ctr" rtlCol="false" tIns="50800" lIns="50800" bIns="50800" rIns="50800"/>
              <a:lstStyle/>
              <a:p>
                <a:pPr algn="ctr">
                  <a:lnSpc>
                    <a:spcPts val="2660"/>
                  </a:lnSpc>
                  <a:spcBef>
                    <a:spcPct val="0"/>
                  </a:spcBef>
                </a:pPr>
              </a:p>
            </p:txBody>
          </p:sp>
        </p:grpSp>
      </p:grpSp>
      <p:sp>
        <p:nvSpPr>
          <p:cNvPr name="Freeform 20" id="20"/>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0376218" y="8836091"/>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4" id="24"/>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3173010" y="8502716"/>
            <a:ext cx="2665215" cy="2040101"/>
          </a:xfrm>
          <a:custGeom>
            <a:avLst/>
            <a:gdLst/>
            <a:ahLst/>
            <a:cxnLst/>
            <a:rect r="r" b="b" t="t" l="l"/>
            <a:pathLst>
              <a:path h="2040101" w="2665215">
                <a:moveTo>
                  <a:pt x="0" y="0"/>
                </a:moveTo>
                <a:lnTo>
                  <a:pt x="2665215" y="0"/>
                </a:lnTo>
                <a:lnTo>
                  <a:pt x="2665215" y="2040101"/>
                </a:lnTo>
                <a:lnTo>
                  <a:pt x="0" y="20401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7" id="27"/>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8" id="28"/>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9" id="29"/>
          <p:cNvSpPr txBox="true"/>
          <p:nvPr/>
        </p:nvSpPr>
        <p:spPr>
          <a:xfrm rot="0">
            <a:off x="3216693" y="899936"/>
            <a:ext cx="11999462" cy="1017511"/>
          </a:xfrm>
          <a:prstGeom prst="rect">
            <a:avLst/>
          </a:prstGeom>
        </p:spPr>
        <p:txBody>
          <a:bodyPr anchor="t" rtlCol="false" tIns="0" lIns="0" bIns="0" rIns="0">
            <a:spAutoFit/>
          </a:bodyPr>
          <a:lstStyle/>
          <a:p>
            <a:pPr algn="ctr">
              <a:lnSpc>
                <a:spcPts val="7443"/>
              </a:lnSpc>
            </a:pPr>
            <a:r>
              <a:rPr lang="en-US" sz="5316">
                <a:solidFill>
                  <a:srgbClr val="FFB9B9"/>
                </a:solidFill>
                <a:latin typeface="Times New Roman"/>
                <a:ea typeface="Times New Roman"/>
                <a:cs typeface="Times New Roman"/>
                <a:sym typeface="Times New Roman"/>
              </a:rPr>
              <a:t>Phương pháp, kỹ thuật áp dụng</a:t>
            </a:r>
          </a:p>
        </p:txBody>
      </p:sp>
      <p:sp>
        <p:nvSpPr>
          <p:cNvPr name="TextBox 30" id="30"/>
          <p:cNvSpPr txBox="true"/>
          <p:nvPr/>
        </p:nvSpPr>
        <p:spPr>
          <a:xfrm rot="0">
            <a:off x="3008466" y="2802985"/>
            <a:ext cx="12415916" cy="5006975"/>
          </a:xfrm>
          <a:prstGeom prst="rect">
            <a:avLst/>
          </a:prstGeom>
        </p:spPr>
        <p:txBody>
          <a:bodyPr anchor="t" rtlCol="false" tIns="0" lIns="0" bIns="0" rIns="0">
            <a:spAutoFit/>
          </a:bodyPr>
          <a:lstStyle/>
          <a:p>
            <a:pPr algn="l">
              <a:lnSpc>
                <a:spcPts val="4900"/>
              </a:lnSpc>
            </a:pPr>
            <a:r>
              <a:rPr lang="en-US" sz="3500" b="true">
                <a:solidFill>
                  <a:srgbClr val="863434"/>
                </a:solidFill>
                <a:latin typeface="Times New Roman Bold"/>
                <a:ea typeface="Times New Roman Bold"/>
                <a:cs typeface="Times New Roman Bold"/>
                <a:sym typeface="Times New Roman Bold"/>
              </a:rPr>
              <a:t>1. Mô hình thống kê</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ARIMA</a:t>
            </a:r>
            <a:r>
              <a:rPr lang="en-US" sz="3500">
                <a:solidFill>
                  <a:srgbClr val="863434"/>
                </a:solidFill>
                <a:latin typeface="Times New Roman"/>
                <a:ea typeface="Times New Roman"/>
                <a:cs typeface="Times New Roman"/>
                <a:sym typeface="Times New Roman"/>
              </a:rPr>
              <a:t>: Kết hợp hồi quy tự động (AR), tích hợp (I) và trung bình trượt (MA) để dự báo chuỗi thời gian không có yếu tố mùa vụ.</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Holt-Winters</a:t>
            </a:r>
            <a:r>
              <a:rPr lang="en-US" sz="3500">
                <a:solidFill>
                  <a:srgbClr val="863434"/>
                </a:solidFill>
                <a:latin typeface="Times New Roman"/>
                <a:ea typeface="Times New Roman"/>
                <a:cs typeface="Times New Roman"/>
                <a:sym typeface="Times New Roman"/>
              </a:rPr>
              <a:t>: Làm mượt dữ liệu theo ba thành phần: mức độ, xu hướng và mùa vụ, phù hợp với chuỗi thời gian có tính mùa vụ và xu hướng.</a:t>
            </a:r>
          </a:p>
          <a:p>
            <a:pPr algn="l">
              <a:lnSpc>
                <a:spcPts val="49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78223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7849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9531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9206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9539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61589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9798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7331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3496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73317" y="8682374"/>
            <a:ext cx="638944" cy="636620"/>
          </a:xfrm>
          <a:custGeom>
            <a:avLst/>
            <a:gdLst/>
            <a:ahLst/>
            <a:cxnLst/>
            <a:rect r="r" b="b" t="t" l="l"/>
            <a:pathLst>
              <a:path h="636620" w="638944">
                <a:moveTo>
                  <a:pt x="0" y="0"/>
                </a:moveTo>
                <a:lnTo>
                  <a:pt x="638944" y="0"/>
                </a:lnTo>
                <a:lnTo>
                  <a:pt x="638944" y="636621"/>
                </a:lnTo>
                <a:lnTo>
                  <a:pt x="0" y="6366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8307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2292348" y="2275901"/>
            <a:ext cx="13889521" cy="6624920"/>
            <a:chOff x="0" y="0"/>
            <a:chExt cx="18519361" cy="8833227"/>
          </a:xfrm>
        </p:grpSpPr>
        <p:grpSp>
          <p:nvGrpSpPr>
            <p:cNvPr name="Group 14" id="14"/>
            <p:cNvGrpSpPr/>
            <p:nvPr/>
          </p:nvGrpSpPr>
          <p:grpSpPr>
            <a:xfrm rot="0">
              <a:off x="801638" y="120753"/>
              <a:ext cx="17717723" cy="8712474"/>
              <a:chOff x="0" y="0"/>
              <a:chExt cx="3171041" cy="1559321"/>
            </a:xfrm>
          </p:grpSpPr>
          <p:sp>
            <p:nvSpPr>
              <p:cNvPr name="Freeform 15" id="15"/>
              <p:cNvSpPr/>
              <p:nvPr/>
            </p:nvSpPr>
            <p:spPr>
              <a:xfrm flipH="false" flipV="false" rot="0">
                <a:off x="0" y="0"/>
                <a:ext cx="3171041" cy="1559321"/>
              </a:xfrm>
              <a:custGeom>
                <a:avLst/>
                <a:gdLst/>
                <a:ahLst/>
                <a:cxnLst/>
                <a:rect r="r" b="b" t="t" l="l"/>
                <a:pathLst>
                  <a:path h="1559321" w="3171041">
                    <a:moveTo>
                      <a:pt x="32794" y="0"/>
                    </a:moveTo>
                    <a:lnTo>
                      <a:pt x="3138247" y="0"/>
                    </a:lnTo>
                    <a:cubicBezTo>
                      <a:pt x="3156359" y="0"/>
                      <a:pt x="3171041" y="14682"/>
                      <a:pt x="3171041" y="32794"/>
                    </a:cubicBezTo>
                    <a:lnTo>
                      <a:pt x="3171041" y="1526527"/>
                    </a:lnTo>
                    <a:cubicBezTo>
                      <a:pt x="3171041" y="1544638"/>
                      <a:pt x="3156359" y="1559321"/>
                      <a:pt x="3138247" y="1559321"/>
                    </a:cubicBezTo>
                    <a:lnTo>
                      <a:pt x="32794" y="1559321"/>
                    </a:lnTo>
                    <a:cubicBezTo>
                      <a:pt x="14682" y="1559321"/>
                      <a:pt x="0" y="1544638"/>
                      <a:pt x="0" y="1526527"/>
                    </a:cubicBezTo>
                    <a:lnTo>
                      <a:pt x="0" y="32794"/>
                    </a:lnTo>
                    <a:cubicBezTo>
                      <a:pt x="0" y="14682"/>
                      <a:pt x="14682" y="0"/>
                      <a:pt x="32794" y="0"/>
                    </a:cubicBezTo>
                    <a:close/>
                  </a:path>
                </a:pathLst>
              </a:custGeom>
              <a:solidFill>
                <a:srgbClr val="863434"/>
              </a:solidFill>
            </p:spPr>
          </p:sp>
          <p:sp>
            <p:nvSpPr>
              <p:cNvPr name="TextBox 16" id="16"/>
              <p:cNvSpPr txBox="true"/>
              <p:nvPr/>
            </p:nvSpPr>
            <p:spPr>
              <a:xfrm>
                <a:off x="0" y="-38100"/>
                <a:ext cx="3171041" cy="1597421"/>
              </a:xfrm>
              <a:prstGeom prst="rect">
                <a:avLst/>
              </a:prstGeom>
            </p:spPr>
            <p:txBody>
              <a:bodyPr anchor="ctr" rtlCol="false" tIns="50800" lIns="50800" bIns="50800" rIns="50800"/>
              <a:lstStyle/>
              <a:p>
                <a:pPr algn="ctr">
                  <a:lnSpc>
                    <a:spcPts val="2660"/>
                  </a:lnSpc>
                  <a:spcBef>
                    <a:spcPct val="0"/>
                  </a:spcBef>
                </a:pPr>
              </a:p>
            </p:txBody>
          </p:sp>
        </p:grpSp>
        <p:grpSp>
          <p:nvGrpSpPr>
            <p:cNvPr name="Group 17" id="17"/>
            <p:cNvGrpSpPr/>
            <p:nvPr/>
          </p:nvGrpSpPr>
          <p:grpSpPr>
            <a:xfrm rot="0">
              <a:off x="0" y="0"/>
              <a:ext cx="18047426" cy="8505564"/>
              <a:chOff x="0" y="0"/>
              <a:chExt cx="3230050" cy="1522289"/>
            </a:xfrm>
          </p:grpSpPr>
          <p:sp>
            <p:nvSpPr>
              <p:cNvPr name="Freeform 18" id="18"/>
              <p:cNvSpPr/>
              <p:nvPr/>
            </p:nvSpPr>
            <p:spPr>
              <a:xfrm flipH="false" flipV="false" rot="0">
                <a:off x="0" y="0"/>
                <a:ext cx="3230050" cy="1522289"/>
              </a:xfrm>
              <a:custGeom>
                <a:avLst/>
                <a:gdLst/>
                <a:ahLst/>
                <a:cxnLst/>
                <a:rect r="r" b="b" t="t" l="l"/>
                <a:pathLst>
                  <a:path h="1522289" w="3230050">
                    <a:moveTo>
                      <a:pt x="32195" y="0"/>
                    </a:moveTo>
                    <a:lnTo>
                      <a:pt x="3197855" y="0"/>
                    </a:lnTo>
                    <a:cubicBezTo>
                      <a:pt x="3206393" y="0"/>
                      <a:pt x="3214582" y="3392"/>
                      <a:pt x="3220620" y="9430"/>
                    </a:cubicBezTo>
                    <a:cubicBezTo>
                      <a:pt x="3226658" y="15467"/>
                      <a:pt x="3230050" y="23656"/>
                      <a:pt x="3230050" y="32195"/>
                    </a:cubicBezTo>
                    <a:lnTo>
                      <a:pt x="3230050" y="1490094"/>
                    </a:lnTo>
                    <a:cubicBezTo>
                      <a:pt x="3230050" y="1507875"/>
                      <a:pt x="3215636" y="1522289"/>
                      <a:pt x="3197855" y="1522289"/>
                    </a:cubicBezTo>
                    <a:lnTo>
                      <a:pt x="32195" y="1522289"/>
                    </a:lnTo>
                    <a:cubicBezTo>
                      <a:pt x="23656" y="1522289"/>
                      <a:pt x="15467" y="1518897"/>
                      <a:pt x="9430" y="1512859"/>
                    </a:cubicBezTo>
                    <a:cubicBezTo>
                      <a:pt x="3392" y="1506821"/>
                      <a:pt x="0" y="1498633"/>
                      <a:pt x="0" y="1490094"/>
                    </a:cubicBezTo>
                    <a:lnTo>
                      <a:pt x="0" y="32195"/>
                    </a:lnTo>
                    <a:cubicBezTo>
                      <a:pt x="0" y="14414"/>
                      <a:pt x="14414" y="0"/>
                      <a:pt x="32195" y="0"/>
                    </a:cubicBezTo>
                    <a:close/>
                  </a:path>
                </a:pathLst>
              </a:custGeom>
              <a:solidFill>
                <a:srgbClr val="F4D7EF"/>
              </a:solidFill>
            </p:spPr>
          </p:sp>
          <p:sp>
            <p:nvSpPr>
              <p:cNvPr name="TextBox 19" id="19"/>
              <p:cNvSpPr txBox="true"/>
              <p:nvPr/>
            </p:nvSpPr>
            <p:spPr>
              <a:xfrm>
                <a:off x="0" y="-38100"/>
                <a:ext cx="3230050" cy="1560389"/>
              </a:xfrm>
              <a:prstGeom prst="rect">
                <a:avLst/>
              </a:prstGeom>
            </p:spPr>
            <p:txBody>
              <a:bodyPr anchor="ctr" rtlCol="false" tIns="50800" lIns="50800" bIns="50800" rIns="50800"/>
              <a:lstStyle/>
              <a:p>
                <a:pPr algn="ctr">
                  <a:lnSpc>
                    <a:spcPts val="2660"/>
                  </a:lnSpc>
                  <a:spcBef>
                    <a:spcPct val="0"/>
                  </a:spcBef>
                </a:pPr>
              </a:p>
            </p:txBody>
          </p:sp>
        </p:grpSp>
      </p:grpSp>
      <p:sp>
        <p:nvSpPr>
          <p:cNvPr name="Freeform 20" id="20"/>
          <p:cNvSpPr/>
          <p:nvPr/>
        </p:nvSpPr>
        <p:spPr>
          <a:xfrm flipH="false" flipV="false" rot="-279302">
            <a:off x="1746512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0">
            <a:off x="1591307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0395268" y="8836091"/>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0">
            <a:off x="1158176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4" id="24"/>
          <p:cNvSpPr/>
          <p:nvPr/>
        </p:nvSpPr>
        <p:spPr>
          <a:xfrm flipH="false" flipV="false" rot="0">
            <a:off x="771799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3192060" y="8502716"/>
            <a:ext cx="2665215" cy="2040101"/>
          </a:xfrm>
          <a:custGeom>
            <a:avLst/>
            <a:gdLst/>
            <a:ahLst/>
            <a:cxnLst/>
            <a:rect r="r" b="b" t="t" l="l"/>
            <a:pathLst>
              <a:path h="2040101" w="2665215">
                <a:moveTo>
                  <a:pt x="0" y="0"/>
                </a:moveTo>
                <a:lnTo>
                  <a:pt x="2665215" y="0"/>
                </a:lnTo>
                <a:lnTo>
                  <a:pt x="2665215" y="2040101"/>
                </a:lnTo>
                <a:lnTo>
                  <a:pt x="0" y="20401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664057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7" id="27"/>
          <p:cNvSpPr/>
          <p:nvPr/>
        </p:nvSpPr>
        <p:spPr>
          <a:xfrm flipH="false" flipV="false" rot="0">
            <a:off x="1546725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8" id="28"/>
          <p:cNvSpPr/>
          <p:nvPr/>
        </p:nvSpPr>
        <p:spPr>
          <a:xfrm flipH="false" flipV="false" rot="0">
            <a:off x="1745303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9" id="29"/>
          <p:cNvSpPr txBox="true"/>
          <p:nvPr/>
        </p:nvSpPr>
        <p:spPr>
          <a:xfrm rot="0">
            <a:off x="3235743" y="899936"/>
            <a:ext cx="11999462" cy="1017511"/>
          </a:xfrm>
          <a:prstGeom prst="rect">
            <a:avLst/>
          </a:prstGeom>
        </p:spPr>
        <p:txBody>
          <a:bodyPr anchor="t" rtlCol="false" tIns="0" lIns="0" bIns="0" rIns="0">
            <a:spAutoFit/>
          </a:bodyPr>
          <a:lstStyle/>
          <a:p>
            <a:pPr algn="ctr">
              <a:lnSpc>
                <a:spcPts val="7443"/>
              </a:lnSpc>
            </a:pPr>
            <a:r>
              <a:rPr lang="en-US" sz="5316">
                <a:solidFill>
                  <a:srgbClr val="FFB9B9"/>
                </a:solidFill>
                <a:latin typeface="Times New Roman"/>
                <a:ea typeface="Times New Roman"/>
                <a:cs typeface="Times New Roman"/>
                <a:sym typeface="Times New Roman"/>
              </a:rPr>
              <a:t>Phương pháp, kỹ thuật áp dụng</a:t>
            </a:r>
          </a:p>
        </p:txBody>
      </p:sp>
      <p:sp>
        <p:nvSpPr>
          <p:cNvPr name="TextBox 30" id="30"/>
          <p:cNvSpPr txBox="true"/>
          <p:nvPr/>
        </p:nvSpPr>
        <p:spPr>
          <a:xfrm rot="0">
            <a:off x="3027516" y="2802985"/>
            <a:ext cx="12415916" cy="5626100"/>
          </a:xfrm>
          <a:prstGeom prst="rect">
            <a:avLst/>
          </a:prstGeom>
        </p:spPr>
        <p:txBody>
          <a:bodyPr anchor="t" rtlCol="false" tIns="0" lIns="0" bIns="0" rIns="0">
            <a:spAutoFit/>
          </a:bodyPr>
          <a:lstStyle/>
          <a:p>
            <a:pPr algn="l">
              <a:lnSpc>
                <a:spcPts val="4900"/>
              </a:lnSpc>
            </a:pPr>
            <a:r>
              <a:rPr lang="en-US" sz="3500" b="true">
                <a:solidFill>
                  <a:srgbClr val="863434"/>
                </a:solidFill>
                <a:latin typeface="Times New Roman Bold"/>
                <a:ea typeface="Times New Roman Bold"/>
                <a:cs typeface="Times New Roman Bold"/>
                <a:sym typeface="Times New Roman Bold"/>
              </a:rPr>
              <a:t>2. Mô hình học máy</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Random Forest: </a:t>
            </a:r>
            <a:r>
              <a:rPr lang="en-US" sz="3500">
                <a:solidFill>
                  <a:srgbClr val="863434"/>
                </a:solidFill>
                <a:latin typeface="Times New Roman"/>
                <a:ea typeface="Times New Roman"/>
                <a:cs typeface="Times New Roman"/>
                <a:sym typeface="Times New Roman"/>
              </a:rPr>
              <a:t>Sử dụng nhiều cây quyết định để giảm sai số, phù hợp với dữ liệu lớn.</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XGBoost: </a:t>
            </a:r>
            <a:r>
              <a:rPr lang="en-US" sz="3500">
                <a:solidFill>
                  <a:srgbClr val="863434"/>
                </a:solidFill>
                <a:latin typeface="Times New Roman"/>
                <a:ea typeface="Times New Roman"/>
                <a:cs typeface="Times New Roman"/>
                <a:sym typeface="Times New Roman"/>
              </a:rPr>
              <a:t>Thuật toán boosting tối ưu hóa sai số, hiệu quả với dữ liệu phức tạp.</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CatBoost: </a:t>
            </a:r>
            <a:r>
              <a:rPr lang="en-US" sz="3500">
                <a:solidFill>
                  <a:srgbClr val="863434"/>
                </a:solidFill>
                <a:latin typeface="Times New Roman"/>
                <a:ea typeface="Times New Roman"/>
                <a:cs typeface="Times New Roman"/>
                <a:sym typeface="Times New Roman"/>
              </a:rPr>
              <a:t>Boosting cải tiến cho dữ liệu có nhiều đặc trưng phân loại, giảm overfitting.</a:t>
            </a:r>
          </a:p>
          <a:p>
            <a:pPr algn="l">
              <a:lnSpc>
                <a:spcPts val="4900"/>
              </a:lnSpc>
            </a:pPr>
          </a:p>
          <a:p>
            <a:pPr algn="l">
              <a:lnSpc>
                <a:spcPts val="49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682374"/>
            <a:ext cx="638944" cy="636620"/>
          </a:xfrm>
          <a:custGeom>
            <a:avLst/>
            <a:gdLst/>
            <a:ahLst/>
            <a:cxnLst/>
            <a:rect r="r" b="b" t="t" l="l"/>
            <a:pathLst>
              <a:path h="636620" w="638944">
                <a:moveTo>
                  <a:pt x="0" y="0"/>
                </a:moveTo>
                <a:lnTo>
                  <a:pt x="638944" y="0"/>
                </a:lnTo>
                <a:lnTo>
                  <a:pt x="638944" y="636621"/>
                </a:lnTo>
                <a:lnTo>
                  <a:pt x="0" y="63662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2273298" y="2275901"/>
            <a:ext cx="14098889" cy="6724783"/>
            <a:chOff x="0" y="0"/>
            <a:chExt cx="18798519" cy="8966377"/>
          </a:xfrm>
        </p:grpSpPr>
        <p:grpSp>
          <p:nvGrpSpPr>
            <p:cNvPr name="Group 14" id="14"/>
            <p:cNvGrpSpPr/>
            <p:nvPr/>
          </p:nvGrpSpPr>
          <p:grpSpPr>
            <a:xfrm rot="0">
              <a:off x="813722" y="122573"/>
              <a:ext cx="17984797" cy="8843805"/>
              <a:chOff x="0" y="0"/>
              <a:chExt cx="3171041" cy="1559321"/>
            </a:xfrm>
          </p:grpSpPr>
          <p:sp>
            <p:nvSpPr>
              <p:cNvPr name="Freeform 15" id="15"/>
              <p:cNvSpPr/>
              <p:nvPr/>
            </p:nvSpPr>
            <p:spPr>
              <a:xfrm flipH="false" flipV="false" rot="0">
                <a:off x="0" y="0"/>
                <a:ext cx="3171041" cy="1559321"/>
              </a:xfrm>
              <a:custGeom>
                <a:avLst/>
                <a:gdLst/>
                <a:ahLst/>
                <a:cxnLst/>
                <a:rect r="r" b="b" t="t" l="l"/>
                <a:pathLst>
                  <a:path h="1559321" w="3171041">
                    <a:moveTo>
                      <a:pt x="32794" y="0"/>
                    </a:moveTo>
                    <a:lnTo>
                      <a:pt x="3138247" y="0"/>
                    </a:lnTo>
                    <a:cubicBezTo>
                      <a:pt x="3156359" y="0"/>
                      <a:pt x="3171041" y="14682"/>
                      <a:pt x="3171041" y="32794"/>
                    </a:cubicBezTo>
                    <a:lnTo>
                      <a:pt x="3171041" y="1526527"/>
                    </a:lnTo>
                    <a:cubicBezTo>
                      <a:pt x="3171041" y="1544638"/>
                      <a:pt x="3156359" y="1559321"/>
                      <a:pt x="3138247" y="1559321"/>
                    </a:cubicBezTo>
                    <a:lnTo>
                      <a:pt x="32794" y="1559321"/>
                    </a:lnTo>
                    <a:cubicBezTo>
                      <a:pt x="14682" y="1559321"/>
                      <a:pt x="0" y="1544638"/>
                      <a:pt x="0" y="1526527"/>
                    </a:cubicBezTo>
                    <a:lnTo>
                      <a:pt x="0" y="32794"/>
                    </a:lnTo>
                    <a:cubicBezTo>
                      <a:pt x="0" y="14682"/>
                      <a:pt x="14682" y="0"/>
                      <a:pt x="32794" y="0"/>
                    </a:cubicBezTo>
                    <a:close/>
                  </a:path>
                </a:pathLst>
              </a:custGeom>
              <a:solidFill>
                <a:srgbClr val="863434"/>
              </a:solidFill>
            </p:spPr>
          </p:sp>
          <p:sp>
            <p:nvSpPr>
              <p:cNvPr name="TextBox 16" id="16"/>
              <p:cNvSpPr txBox="true"/>
              <p:nvPr/>
            </p:nvSpPr>
            <p:spPr>
              <a:xfrm>
                <a:off x="0" y="-38100"/>
                <a:ext cx="3171041" cy="1597421"/>
              </a:xfrm>
              <a:prstGeom prst="rect">
                <a:avLst/>
              </a:prstGeom>
            </p:spPr>
            <p:txBody>
              <a:bodyPr anchor="ctr" rtlCol="false" tIns="50800" lIns="50800" bIns="50800" rIns="50800"/>
              <a:lstStyle/>
              <a:p>
                <a:pPr algn="ctr">
                  <a:lnSpc>
                    <a:spcPts val="2660"/>
                  </a:lnSpc>
                  <a:spcBef>
                    <a:spcPct val="0"/>
                  </a:spcBef>
                </a:pPr>
              </a:p>
            </p:txBody>
          </p:sp>
        </p:grpSp>
        <p:grpSp>
          <p:nvGrpSpPr>
            <p:cNvPr name="Group 17" id="17"/>
            <p:cNvGrpSpPr/>
            <p:nvPr/>
          </p:nvGrpSpPr>
          <p:grpSpPr>
            <a:xfrm rot="0">
              <a:off x="0" y="0"/>
              <a:ext cx="18319470" cy="8633775"/>
              <a:chOff x="0" y="0"/>
              <a:chExt cx="3230050" cy="1522289"/>
            </a:xfrm>
          </p:grpSpPr>
          <p:sp>
            <p:nvSpPr>
              <p:cNvPr name="Freeform 18" id="18"/>
              <p:cNvSpPr/>
              <p:nvPr/>
            </p:nvSpPr>
            <p:spPr>
              <a:xfrm flipH="false" flipV="false" rot="0">
                <a:off x="0" y="0"/>
                <a:ext cx="3230050" cy="1522289"/>
              </a:xfrm>
              <a:custGeom>
                <a:avLst/>
                <a:gdLst/>
                <a:ahLst/>
                <a:cxnLst/>
                <a:rect r="r" b="b" t="t" l="l"/>
                <a:pathLst>
                  <a:path h="1522289" w="3230050">
                    <a:moveTo>
                      <a:pt x="32195" y="0"/>
                    </a:moveTo>
                    <a:lnTo>
                      <a:pt x="3197855" y="0"/>
                    </a:lnTo>
                    <a:cubicBezTo>
                      <a:pt x="3206393" y="0"/>
                      <a:pt x="3214582" y="3392"/>
                      <a:pt x="3220620" y="9430"/>
                    </a:cubicBezTo>
                    <a:cubicBezTo>
                      <a:pt x="3226658" y="15467"/>
                      <a:pt x="3230050" y="23656"/>
                      <a:pt x="3230050" y="32195"/>
                    </a:cubicBezTo>
                    <a:lnTo>
                      <a:pt x="3230050" y="1490094"/>
                    </a:lnTo>
                    <a:cubicBezTo>
                      <a:pt x="3230050" y="1507875"/>
                      <a:pt x="3215636" y="1522289"/>
                      <a:pt x="3197855" y="1522289"/>
                    </a:cubicBezTo>
                    <a:lnTo>
                      <a:pt x="32195" y="1522289"/>
                    </a:lnTo>
                    <a:cubicBezTo>
                      <a:pt x="23656" y="1522289"/>
                      <a:pt x="15467" y="1518897"/>
                      <a:pt x="9430" y="1512859"/>
                    </a:cubicBezTo>
                    <a:cubicBezTo>
                      <a:pt x="3392" y="1506821"/>
                      <a:pt x="0" y="1498633"/>
                      <a:pt x="0" y="1490094"/>
                    </a:cubicBezTo>
                    <a:lnTo>
                      <a:pt x="0" y="32195"/>
                    </a:lnTo>
                    <a:cubicBezTo>
                      <a:pt x="0" y="14414"/>
                      <a:pt x="14414" y="0"/>
                      <a:pt x="32195" y="0"/>
                    </a:cubicBezTo>
                    <a:close/>
                  </a:path>
                </a:pathLst>
              </a:custGeom>
              <a:solidFill>
                <a:srgbClr val="F4D7EF"/>
              </a:solidFill>
            </p:spPr>
          </p:sp>
          <p:sp>
            <p:nvSpPr>
              <p:cNvPr name="TextBox 19" id="19"/>
              <p:cNvSpPr txBox="true"/>
              <p:nvPr/>
            </p:nvSpPr>
            <p:spPr>
              <a:xfrm>
                <a:off x="0" y="-38100"/>
                <a:ext cx="3230050" cy="1560389"/>
              </a:xfrm>
              <a:prstGeom prst="rect">
                <a:avLst/>
              </a:prstGeom>
            </p:spPr>
            <p:txBody>
              <a:bodyPr anchor="ctr" rtlCol="false" tIns="50800" lIns="50800" bIns="50800" rIns="50800"/>
              <a:lstStyle/>
              <a:p>
                <a:pPr algn="ctr">
                  <a:lnSpc>
                    <a:spcPts val="2660"/>
                  </a:lnSpc>
                  <a:spcBef>
                    <a:spcPct val="0"/>
                  </a:spcBef>
                </a:pPr>
              </a:p>
            </p:txBody>
          </p:sp>
        </p:grpSp>
      </p:grpSp>
      <p:sp>
        <p:nvSpPr>
          <p:cNvPr name="Freeform 20" id="20"/>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1" id="21"/>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2" id="22"/>
          <p:cNvSpPr/>
          <p:nvPr/>
        </p:nvSpPr>
        <p:spPr>
          <a:xfrm flipH="false" flipV="false" rot="0">
            <a:off x="10376218" y="8836091"/>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3" id="23"/>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4" id="24"/>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false" flipV="false" rot="0">
            <a:off x="13173010" y="8502716"/>
            <a:ext cx="2665215" cy="2040101"/>
          </a:xfrm>
          <a:custGeom>
            <a:avLst/>
            <a:gdLst/>
            <a:ahLst/>
            <a:cxnLst/>
            <a:rect r="r" b="b" t="t" l="l"/>
            <a:pathLst>
              <a:path h="2040101" w="2665215">
                <a:moveTo>
                  <a:pt x="0" y="0"/>
                </a:moveTo>
                <a:lnTo>
                  <a:pt x="2665215" y="0"/>
                </a:lnTo>
                <a:lnTo>
                  <a:pt x="2665215" y="2040101"/>
                </a:lnTo>
                <a:lnTo>
                  <a:pt x="0" y="204010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7" id="27"/>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8" id="28"/>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9" id="29"/>
          <p:cNvSpPr txBox="true"/>
          <p:nvPr/>
        </p:nvSpPr>
        <p:spPr>
          <a:xfrm rot="0">
            <a:off x="3216693" y="899936"/>
            <a:ext cx="11999462" cy="1017511"/>
          </a:xfrm>
          <a:prstGeom prst="rect">
            <a:avLst/>
          </a:prstGeom>
        </p:spPr>
        <p:txBody>
          <a:bodyPr anchor="t" rtlCol="false" tIns="0" lIns="0" bIns="0" rIns="0">
            <a:spAutoFit/>
          </a:bodyPr>
          <a:lstStyle/>
          <a:p>
            <a:pPr algn="ctr">
              <a:lnSpc>
                <a:spcPts val="7443"/>
              </a:lnSpc>
            </a:pPr>
            <a:r>
              <a:rPr lang="en-US" sz="5316">
                <a:solidFill>
                  <a:srgbClr val="FFB9B9"/>
                </a:solidFill>
                <a:latin typeface="Times New Roman"/>
                <a:ea typeface="Times New Roman"/>
                <a:cs typeface="Times New Roman"/>
                <a:sym typeface="Times New Roman"/>
              </a:rPr>
              <a:t>Phương pháp, kỹ thuật áp dụng</a:t>
            </a:r>
          </a:p>
        </p:txBody>
      </p:sp>
      <p:sp>
        <p:nvSpPr>
          <p:cNvPr name="TextBox 30" id="30"/>
          <p:cNvSpPr txBox="true"/>
          <p:nvPr/>
        </p:nvSpPr>
        <p:spPr>
          <a:xfrm rot="0">
            <a:off x="3119187" y="2726307"/>
            <a:ext cx="12415916" cy="3768725"/>
          </a:xfrm>
          <a:prstGeom prst="rect">
            <a:avLst/>
          </a:prstGeom>
        </p:spPr>
        <p:txBody>
          <a:bodyPr anchor="t" rtlCol="false" tIns="0" lIns="0" bIns="0" rIns="0">
            <a:spAutoFit/>
          </a:bodyPr>
          <a:lstStyle/>
          <a:p>
            <a:pPr algn="l">
              <a:lnSpc>
                <a:spcPts val="4900"/>
              </a:lnSpc>
            </a:pPr>
            <a:r>
              <a:rPr lang="en-US" sz="3500" b="true">
                <a:solidFill>
                  <a:srgbClr val="863434"/>
                </a:solidFill>
                <a:latin typeface="Times New Roman Bold"/>
                <a:ea typeface="Times New Roman Bold"/>
                <a:cs typeface="Times New Roman Bold"/>
                <a:sym typeface="Times New Roman Bold"/>
              </a:rPr>
              <a:t>3. Mô hình học sâu</a:t>
            </a:r>
          </a:p>
          <a:p>
            <a:pPr algn="l" marL="755651" indent="-377825" lvl="1">
              <a:lnSpc>
                <a:spcPts val="4900"/>
              </a:lnSpc>
              <a:buFont typeface="Arial"/>
              <a:buChar char="•"/>
            </a:pPr>
            <a:r>
              <a:rPr lang="en-US" b="true" sz="3500">
                <a:solidFill>
                  <a:srgbClr val="863434"/>
                </a:solidFill>
                <a:latin typeface="Times New Roman Bold"/>
                <a:ea typeface="Times New Roman Bold"/>
                <a:cs typeface="Times New Roman Bold"/>
                <a:sym typeface="Times New Roman Bold"/>
              </a:rPr>
              <a:t>LSTM</a:t>
            </a:r>
            <a:r>
              <a:rPr lang="en-US" b="true" sz="3500">
                <a:solidFill>
                  <a:srgbClr val="863434"/>
                </a:solidFill>
                <a:latin typeface="Times New Roman Bold"/>
                <a:ea typeface="Times New Roman Bold"/>
                <a:cs typeface="Times New Roman Bold"/>
                <a:sym typeface="Times New Roman Bold"/>
              </a:rPr>
              <a:t>: </a:t>
            </a:r>
            <a:r>
              <a:rPr lang="en-US" sz="3500">
                <a:solidFill>
                  <a:srgbClr val="863434"/>
                </a:solidFill>
                <a:latin typeface="Times New Roman"/>
                <a:ea typeface="Times New Roman"/>
                <a:cs typeface="Times New Roman"/>
                <a:sym typeface="Times New Roman"/>
              </a:rPr>
              <a:t>Mạng nơ-ron hồi tiếp có khả năng ghi nhớ thông tin dài hạn, phù hợp với chuỗi thời gian.</a:t>
            </a:r>
          </a:p>
          <a:p>
            <a:pPr algn="l">
              <a:lnSpc>
                <a:spcPts val="4900"/>
              </a:lnSpc>
            </a:pPr>
          </a:p>
          <a:p>
            <a:pPr algn="l">
              <a:lnSpc>
                <a:spcPts val="4900"/>
              </a:lnSpc>
            </a:pPr>
          </a:p>
          <a:p>
            <a:pPr algn="l">
              <a:lnSpc>
                <a:spcPts val="49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8F3FF"/>
        </a:solidFill>
      </p:bgPr>
    </p:bg>
    <p:spTree>
      <p:nvGrpSpPr>
        <p:cNvPr id="1" name=""/>
        <p:cNvGrpSpPr/>
        <p:nvPr/>
      </p:nvGrpSpPr>
      <p:grpSpPr>
        <a:xfrm>
          <a:off x="0" y="0"/>
          <a:ext cx="0" cy="0"/>
          <a:chOff x="0" y="0"/>
          <a:chExt cx="0" cy="0"/>
        </a:xfrm>
      </p:grpSpPr>
      <p:sp>
        <p:nvSpPr>
          <p:cNvPr name="Freeform 2" id="2"/>
          <p:cNvSpPr/>
          <p:nvPr/>
        </p:nvSpPr>
        <p:spPr>
          <a:xfrm flipH="false" flipV="false" rot="0">
            <a:off x="-801280" y="8767349"/>
            <a:ext cx="2890103" cy="2128167"/>
          </a:xfrm>
          <a:custGeom>
            <a:avLst/>
            <a:gdLst/>
            <a:ahLst/>
            <a:cxnLst/>
            <a:rect r="r" b="b" t="t" l="l"/>
            <a:pathLst>
              <a:path h="2128167" w="2890103">
                <a:moveTo>
                  <a:pt x="0" y="0"/>
                </a:moveTo>
                <a:lnTo>
                  <a:pt x="2890103" y="0"/>
                </a:lnTo>
                <a:lnTo>
                  <a:pt x="2890103" y="2128167"/>
                </a:lnTo>
                <a:lnTo>
                  <a:pt x="0" y="21281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59440" y="8767349"/>
            <a:ext cx="2319495" cy="1775468"/>
          </a:xfrm>
          <a:custGeom>
            <a:avLst/>
            <a:gdLst/>
            <a:ahLst/>
            <a:cxnLst/>
            <a:rect r="r" b="b" t="t" l="l"/>
            <a:pathLst>
              <a:path h="1775468" w="2319495">
                <a:moveTo>
                  <a:pt x="0" y="0"/>
                </a:moveTo>
                <a:lnTo>
                  <a:pt x="2319495" y="0"/>
                </a:lnTo>
                <a:lnTo>
                  <a:pt x="2319495" y="1775468"/>
                </a:lnTo>
                <a:lnTo>
                  <a:pt x="0" y="17754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876269" y="-1217512"/>
            <a:ext cx="4766063" cy="2435025"/>
          </a:xfrm>
          <a:custGeom>
            <a:avLst/>
            <a:gdLst/>
            <a:ahLst/>
            <a:cxnLst/>
            <a:rect r="r" b="b" t="t" l="l"/>
            <a:pathLst>
              <a:path h="2435025" w="4766063">
                <a:moveTo>
                  <a:pt x="0" y="0"/>
                </a:moveTo>
                <a:lnTo>
                  <a:pt x="4766062" y="0"/>
                </a:lnTo>
                <a:lnTo>
                  <a:pt x="4766062" y="2435024"/>
                </a:lnTo>
                <a:lnTo>
                  <a:pt x="0" y="243502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3173010" y="-240039"/>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014445" y="-870210"/>
            <a:ext cx="4086290" cy="2087723"/>
          </a:xfrm>
          <a:custGeom>
            <a:avLst/>
            <a:gdLst/>
            <a:ahLst/>
            <a:cxnLst/>
            <a:rect r="r" b="b" t="t" l="l"/>
            <a:pathLst>
              <a:path h="2087723" w="4086290">
                <a:moveTo>
                  <a:pt x="0" y="0"/>
                </a:moveTo>
                <a:lnTo>
                  <a:pt x="4086290" y="0"/>
                </a:lnTo>
                <a:lnTo>
                  <a:pt x="4086290" y="2087722"/>
                </a:lnTo>
                <a:lnTo>
                  <a:pt x="0" y="20877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596846" y="-512903"/>
            <a:ext cx="4086290" cy="2087723"/>
          </a:xfrm>
          <a:custGeom>
            <a:avLst/>
            <a:gdLst/>
            <a:ahLst/>
            <a:cxnLst/>
            <a:rect r="r" b="b" t="t" l="l"/>
            <a:pathLst>
              <a:path h="2087723" w="4086290">
                <a:moveTo>
                  <a:pt x="0" y="0"/>
                </a:moveTo>
                <a:lnTo>
                  <a:pt x="4086290" y="0"/>
                </a:lnTo>
                <a:lnTo>
                  <a:pt x="4086290" y="2087723"/>
                </a:lnTo>
                <a:lnTo>
                  <a:pt x="0" y="20877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4278935" y="-870210"/>
            <a:ext cx="3032933" cy="1549553"/>
          </a:xfrm>
          <a:custGeom>
            <a:avLst/>
            <a:gdLst/>
            <a:ahLst/>
            <a:cxnLst/>
            <a:rect r="r" b="b" t="t" l="l"/>
            <a:pathLst>
              <a:path h="1549553" w="3032933">
                <a:moveTo>
                  <a:pt x="0" y="0"/>
                </a:moveTo>
                <a:lnTo>
                  <a:pt x="3032932" y="0"/>
                </a:lnTo>
                <a:lnTo>
                  <a:pt x="3032932" y="1549552"/>
                </a:lnTo>
                <a:lnTo>
                  <a:pt x="0" y="154955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3654267" y="9148016"/>
            <a:ext cx="5055817" cy="1833503"/>
          </a:xfrm>
          <a:custGeom>
            <a:avLst/>
            <a:gdLst/>
            <a:ahLst/>
            <a:cxnLst/>
            <a:rect r="r" b="b" t="t" l="l"/>
            <a:pathLst>
              <a:path h="1833503" w="5055817">
                <a:moveTo>
                  <a:pt x="0" y="0"/>
                </a:moveTo>
                <a:lnTo>
                  <a:pt x="5055817" y="0"/>
                </a:lnTo>
                <a:lnTo>
                  <a:pt x="5055817" y="1833504"/>
                </a:lnTo>
                <a:lnTo>
                  <a:pt x="0" y="18335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854015" y="1847684"/>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3654267" y="8449039"/>
            <a:ext cx="638944" cy="636620"/>
          </a:xfrm>
          <a:custGeom>
            <a:avLst/>
            <a:gdLst/>
            <a:ahLst/>
            <a:cxnLst/>
            <a:rect r="r" b="b" t="t" l="l"/>
            <a:pathLst>
              <a:path h="636620" w="638944">
                <a:moveTo>
                  <a:pt x="0" y="0"/>
                </a:moveTo>
                <a:lnTo>
                  <a:pt x="638944" y="0"/>
                </a:lnTo>
                <a:lnTo>
                  <a:pt x="638944" y="636620"/>
                </a:lnTo>
                <a:lnTo>
                  <a:pt x="0" y="6366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2699999">
            <a:off x="764025" y="8141822"/>
            <a:ext cx="535412" cy="511075"/>
          </a:xfrm>
          <a:custGeom>
            <a:avLst/>
            <a:gdLst/>
            <a:ahLst/>
            <a:cxnLst/>
            <a:rect r="r" b="b" t="t" l="l"/>
            <a:pathLst>
              <a:path h="511075" w="535412">
                <a:moveTo>
                  <a:pt x="0" y="0"/>
                </a:moveTo>
                <a:lnTo>
                  <a:pt x="535412" y="0"/>
                </a:lnTo>
                <a:lnTo>
                  <a:pt x="535412" y="511075"/>
                </a:lnTo>
                <a:lnTo>
                  <a:pt x="0" y="51107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3" id="13"/>
          <p:cNvGrpSpPr/>
          <p:nvPr/>
        </p:nvGrpSpPr>
        <p:grpSpPr>
          <a:xfrm rot="0">
            <a:off x="3138587" y="2195457"/>
            <a:ext cx="12315626" cy="6143338"/>
            <a:chOff x="0" y="0"/>
            <a:chExt cx="3243622" cy="1617999"/>
          </a:xfrm>
        </p:grpSpPr>
        <p:sp>
          <p:nvSpPr>
            <p:cNvPr name="Freeform 14" id="14"/>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863434"/>
            </a:solidFill>
          </p:spPr>
        </p:sp>
        <p:sp>
          <p:nvSpPr>
            <p:cNvPr name="TextBox 15" id="15"/>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2986187" y="2043057"/>
            <a:ext cx="12315626" cy="6143338"/>
            <a:chOff x="0" y="0"/>
            <a:chExt cx="3243622" cy="1617999"/>
          </a:xfrm>
        </p:grpSpPr>
        <p:sp>
          <p:nvSpPr>
            <p:cNvPr name="Freeform 17" id="17"/>
            <p:cNvSpPr/>
            <p:nvPr/>
          </p:nvSpPr>
          <p:spPr>
            <a:xfrm flipH="false" flipV="false" rot="0">
              <a:off x="0" y="0"/>
              <a:ext cx="3243622" cy="1617999"/>
            </a:xfrm>
            <a:custGeom>
              <a:avLst/>
              <a:gdLst/>
              <a:ahLst/>
              <a:cxnLst/>
              <a:rect r="r" b="b" t="t" l="l"/>
              <a:pathLst>
                <a:path h="1617999" w="3243622">
                  <a:moveTo>
                    <a:pt x="32060" y="0"/>
                  </a:moveTo>
                  <a:lnTo>
                    <a:pt x="3211562" y="0"/>
                  </a:lnTo>
                  <a:cubicBezTo>
                    <a:pt x="3220064" y="0"/>
                    <a:pt x="3228219" y="3378"/>
                    <a:pt x="3234231" y="9390"/>
                  </a:cubicBezTo>
                  <a:cubicBezTo>
                    <a:pt x="3240244" y="15403"/>
                    <a:pt x="3243622" y="23557"/>
                    <a:pt x="3243622" y="32060"/>
                  </a:cubicBezTo>
                  <a:lnTo>
                    <a:pt x="3243622" y="1585939"/>
                  </a:lnTo>
                  <a:cubicBezTo>
                    <a:pt x="3243622" y="1603645"/>
                    <a:pt x="3229268" y="1617999"/>
                    <a:pt x="3211562" y="1617999"/>
                  </a:cubicBezTo>
                  <a:lnTo>
                    <a:pt x="32060" y="1617999"/>
                  </a:lnTo>
                  <a:cubicBezTo>
                    <a:pt x="14354" y="1617999"/>
                    <a:pt x="0" y="1603645"/>
                    <a:pt x="0" y="1585939"/>
                  </a:cubicBezTo>
                  <a:lnTo>
                    <a:pt x="0" y="32060"/>
                  </a:lnTo>
                  <a:cubicBezTo>
                    <a:pt x="0" y="14354"/>
                    <a:pt x="14354" y="0"/>
                    <a:pt x="32060" y="0"/>
                  </a:cubicBezTo>
                  <a:close/>
                </a:path>
              </a:pathLst>
            </a:custGeom>
            <a:solidFill>
              <a:srgbClr val="F4D7EF"/>
            </a:solidFill>
          </p:spPr>
        </p:sp>
        <p:sp>
          <p:nvSpPr>
            <p:cNvPr name="TextBox 18" id="18"/>
            <p:cNvSpPr txBox="true"/>
            <p:nvPr/>
          </p:nvSpPr>
          <p:spPr>
            <a:xfrm>
              <a:off x="0" y="-76200"/>
              <a:ext cx="3243622" cy="1694199"/>
            </a:xfrm>
            <a:prstGeom prst="rect">
              <a:avLst/>
            </a:prstGeom>
          </p:spPr>
          <p:txBody>
            <a:bodyPr anchor="ctr" rtlCol="false" tIns="50800" lIns="50800" bIns="50800" rIns="50800"/>
            <a:lstStyle/>
            <a:p>
              <a:pPr algn="ctr">
                <a:lnSpc>
                  <a:spcPts val="2659"/>
                </a:lnSpc>
                <a:spcBef>
                  <a:spcPct val="0"/>
                </a:spcBef>
              </a:pPr>
            </a:p>
          </p:txBody>
        </p:sp>
      </p:grpSp>
      <p:sp>
        <p:nvSpPr>
          <p:cNvPr name="Freeform 19" id="19"/>
          <p:cNvSpPr/>
          <p:nvPr/>
        </p:nvSpPr>
        <p:spPr>
          <a:xfrm flipH="false" flipV="false" rot="-279302">
            <a:off x="17446073" y="8053096"/>
            <a:ext cx="577600" cy="321356"/>
          </a:xfrm>
          <a:custGeom>
            <a:avLst/>
            <a:gdLst/>
            <a:ahLst/>
            <a:cxnLst/>
            <a:rect r="r" b="b" t="t" l="l"/>
            <a:pathLst>
              <a:path h="321356" w="577600">
                <a:moveTo>
                  <a:pt x="0" y="0"/>
                </a:moveTo>
                <a:lnTo>
                  <a:pt x="577600" y="0"/>
                </a:lnTo>
                <a:lnTo>
                  <a:pt x="577600" y="321356"/>
                </a:lnTo>
                <a:lnTo>
                  <a:pt x="0" y="32135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0" id="20"/>
          <p:cNvSpPr/>
          <p:nvPr/>
        </p:nvSpPr>
        <p:spPr>
          <a:xfrm flipH="false" flipV="false" rot="0">
            <a:off x="15894029" y="7804292"/>
            <a:ext cx="537577" cy="577476"/>
          </a:xfrm>
          <a:custGeom>
            <a:avLst/>
            <a:gdLst/>
            <a:ahLst/>
            <a:cxnLst/>
            <a:rect r="r" b="b" t="t" l="l"/>
            <a:pathLst>
              <a:path h="577476" w="537577">
                <a:moveTo>
                  <a:pt x="0" y="0"/>
                </a:moveTo>
                <a:lnTo>
                  <a:pt x="537578" y="0"/>
                </a:lnTo>
                <a:lnTo>
                  <a:pt x="537578" y="577476"/>
                </a:lnTo>
                <a:lnTo>
                  <a:pt x="0" y="57747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1" id="21"/>
          <p:cNvSpPr/>
          <p:nvPr/>
        </p:nvSpPr>
        <p:spPr>
          <a:xfrm flipH="false" flipV="false" rot="0">
            <a:off x="10376218" y="8502716"/>
            <a:ext cx="1186499" cy="2392800"/>
          </a:xfrm>
          <a:custGeom>
            <a:avLst/>
            <a:gdLst/>
            <a:ahLst/>
            <a:cxnLst/>
            <a:rect r="r" b="b" t="t" l="l"/>
            <a:pathLst>
              <a:path h="2392800" w="1186499">
                <a:moveTo>
                  <a:pt x="0" y="0"/>
                </a:moveTo>
                <a:lnTo>
                  <a:pt x="1186499" y="0"/>
                </a:lnTo>
                <a:lnTo>
                  <a:pt x="1186499" y="2392800"/>
                </a:lnTo>
                <a:lnTo>
                  <a:pt x="0" y="239280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2" id="22"/>
          <p:cNvSpPr/>
          <p:nvPr/>
        </p:nvSpPr>
        <p:spPr>
          <a:xfrm flipH="false" flipV="false" rot="0">
            <a:off x="11562717" y="9148016"/>
            <a:ext cx="1713492" cy="1833503"/>
          </a:xfrm>
          <a:custGeom>
            <a:avLst/>
            <a:gdLst/>
            <a:ahLst/>
            <a:cxnLst/>
            <a:rect r="r" b="b" t="t" l="l"/>
            <a:pathLst>
              <a:path h="1833503" w="1713492">
                <a:moveTo>
                  <a:pt x="0" y="0"/>
                </a:moveTo>
                <a:lnTo>
                  <a:pt x="1713492" y="0"/>
                </a:lnTo>
                <a:lnTo>
                  <a:pt x="1713492" y="1833504"/>
                </a:lnTo>
                <a:lnTo>
                  <a:pt x="0" y="183350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3" id="23"/>
          <p:cNvSpPr/>
          <p:nvPr/>
        </p:nvSpPr>
        <p:spPr>
          <a:xfrm flipH="false" flipV="false" rot="0">
            <a:off x="7698948" y="9000684"/>
            <a:ext cx="2890103" cy="2128167"/>
          </a:xfrm>
          <a:custGeom>
            <a:avLst/>
            <a:gdLst/>
            <a:ahLst/>
            <a:cxnLst/>
            <a:rect r="r" b="b" t="t" l="l"/>
            <a:pathLst>
              <a:path h="2128167" w="2890103">
                <a:moveTo>
                  <a:pt x="0" y="0"/>
                </a:moveTo>
                <a:lnTo>
                  <a:pt x="2890104" y="0"/>
                </a:lnTo>
                <a:lnTo>
                  <a:pt x="2890104" y="2128168"/>
                </a:lnTo>
                <a:lnTo>
                  <a:pt x="0" y="2128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4" id="24"/>
          <p:cNvSpPr/>
          <p:nvPr/>
        </p:nvSpPr>
        <p:spPr>
          <a:xfrm flipH="false" flipV="false" rot="0">
            <a:off x="13173010" y="8381768"/>
            <a:ext cx="2823223" cy="2161049"/>
          </a:xfrm>
          <a:custGeom>
            <a:avLst/>
            <a:gdLst/>
            <a:ahLst/>
            <a:cxnLst/>
            <a:rect r="r" b="b" t="t" l="l"/>
            <a:pathLst>
              <a:path h="2161049" w="2823223">
                <a:moveTo>
                  <a:pt x="0" y="0"/>
                </a:moveTo>
                <a:lnTo>
                  <a:pt x="2823223" y="0"/>
                </a:lnTo>
                <a:lnTo>
                  <a:pt x="2823223" y="2161049"/>
                </a:lnTo>
                <a:lnTo>
                  <a:pt x="0" y="21610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5" id="25"/>
          <p:cNvSpPr/>
          <p:nvPr/>
        </p:nvSpPr>
        <p:spPr>
          <a:xfrm flipH="false" flipV="false" rot="0">
            <a:off x="16621528" y="8381804"/>
            <a:ext cx="2192793" cy="2634625"/>
          </a:xfrm>
          <a:custGeom>
            <a:avLst/>
            <a:gdLst/>
            <a:ahLst/>
            <a:cxnLst/>
            <a:rect r="r" b="b" t="t" l="l"/>
            <a:pathLst>
              <a:path h="2634625" w="2192793">
                <a:moveTo>
                  <a:pt x="0" y="0"/>
                </a:moveTo>
                <a:lnTo>
                  <a:pt x="2192794" y="0"/>
                </a:lnTo>
                <a:lnTo>
                  <a:pt x="2192794" y="2634624"/>
                </a:lnTo>
                <a:lnTo>
                  <a:pt x="0" y="263462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26" id="26"/>
          <p:cNvSpPr/>
          <p:nvPr/>
        </p:nvSpPr>
        <p:spPr>
          <a:xfrm flipH="false" flipV="false" rot="0">
            <a:off x="15448209" y="8590782"/>
            <a:ext cx="1173319" cy="2304734"/>
          </a:xfrm>
          <a:custGeom>
            <a:avLst/>
            <a:gdLst/>
            <a:ahLst/>
            <a:cxnLst/>
            <a:rect r="r" b="b" t="t" l="l"/>
            <a:pathLst>
              <a:path h="2304734" w="1173319">
                <a:moveTo>
                  <a:pt x="0" y="0"/>
                </a:moveTo>
                <a:lnTo>
                  <a:pt x="1173319" y="0"/>
                </a:lnTo>
                <a:lnTo>
                  <a:pt x="1173319" y="2304734"/>
                </a:lnTo>
                <a:lnTo>
                  <a:pt x="0" y="230473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27" id="27"/>
          <p:cNvSpPr/>
          <p:nvPr/>
        </p:nvSpPr>
        <p:spPr>
          <a:xfrm flipH="false" flipV="false" rot="0">
            <a:off x="17433985" y="4681691"/>
            <a:ext cx="1708029" cy="1813341"/>
          </a:xfrm>
          <a:custGeom>
            <a:avLst/>
            <a:gdLst/>
            <a:ahLst/>
            <a:cxnLst/>
            <a:rect r="r" b="b" t="t" l="l"/>
            <a:pathLst>
              <a:path h="1813341" w="1708029">
                <a:moveTo>
                  <a:pt x="0" y="0"/>
                </a:moveTo>
                <a:lnTo>
                  <a:pt x="1708030" y="0"/>
                </a:lnTo>
                <a:lnTo>
                  <a:pt x="1708030" y="1813341"/>
                </a:lnTo>
                <a:lnTo>
                  <a:pt x="0" y="181334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8" id="28"/>
          <p:cNvPicPr>
            <a:picLocks noChangeAspect="true"/>
          </p:cNvPicPr>
          <p:nvPr/>
        </p:nvPicPr>
        <p:blipFill>
          <a:blip r:embed="rId28"/>
          <a:srcRect l="0" t="0" r="0" b="0"/>
          <a:stretch>
            <a:fillRect/>
          </a:stretch>
        </p:blipFill>
        <p:spPr>
          <a:xfrm flipH="false" flipV="false" rot="0">
            <a:off x="7904323" y="5536559"/>
            <a:ext cx="2199364" cy="2649836"/>
          </a:xfrm>
          <a:prstGeom prst="rect">
            <a:avLst/>
          </a:prstGeom>
        </p:spPr>
      </p:pic>
      <p:sp>
        <p:nvSpPr>
          <p:cNvPr name="TextBox 29" id="29"/>
          <p:cNvSpPr txBox="true"/>
          <p:nvPr/>
        </p:nvSpPr>
        <p:spPr>
          <a:xfrm rot="0">
            <a:off x="4502587" y="2521210"/>
            <a:ext cx="9282825" cy="1898629"/>
          </a:xfrm>
          <a:prstGeom prst="rect">
            <a:avLst/>
          </a:prstGeom>
        </p:spPr>
        <p:txBody>
          <a:bodyPr anchor="t" rtlCol="false" tIns="0" lIns="0" bIns="0" rIns="0">
            <a:spAutoFit/>
          </a:bodyPr>
          <a:lstStyle/>
          <a:p>
            <a:pPr algn="ctr">
              <a:lnSpc>
                <a:spcPts val="13999"/>
              </a:lnSpc>
            </a:pPr>
            <a:r>
              <a:rPr lang="en-US" sz="9999">
                <a:solidFill>
                  <a:srgbClr val="FFB9B9"/>
                </a:solidFill>
                <a:latin typeface="Times New Roman"/>
                <a:ea typeface="Times New Roman"/>
                <a:cs typeface="Times New Roman"/>
                <a:sym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DAGh2wqQImE</dc:identifier>
  <dcterms:modified xsi:type="dcterms:W3CDTF">2011-08-01T06:04:30Z</dcterms:modified>
  <cp:revision>1</cp:revision>
  <dc:title>Blue and Pink Pastel Cute Playful Project Presentation</dc:title>
</cp:coreProperties>
</file>